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Uplift esperado (%)</c:v>
                </c:pt>
              </c:strCache>
            </c:strRef>
          </c:tx>
          <c:spPr>
            <a:solidFill>
              <a:srgbClr val="00C896"/>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Tiempo en sitio</c:v>
                  </c:pt>
                  <c:pt idx="1">
                    <c:v>Retorno usuarios</c:v>
                  </c:pt>
                  <c:pt idx="2">
                    <c:v>Leads nuevos</c:v>
                  </c:pt>
                  <c:pt idx="3">
                    <c:v>Conversión</c:v>
                  </c:pt>
                  <c:pt idx="4">
                    <c:v>Tráfico orgánico</c:v>
                  </c:pt>
                  <c:pt idx="5">
                    <c:v>Contenido viral</c:v>
                  </c:pt>
                </c:lvl>
              </c:multiLvlStrCache>
            </c:multiLvlStrRef>
          </c:cat>
          <c:val>
            <c:numRef>
              <c:f>Sheet1!$B$2:$B$7</c:f>
              <c:numCache>
                <c:formatCode>General</c:formatCode>
                <c:ptCount val="6"/>
                <c:pt idx="0">
                  <c:v>95</c:v>
                </c:pt>
                <c:pt idx="1">
                  <c:v>41</c:v>
                </c:pt>
                <c:pt idx="2">
                  <c:v>40</c:v>
                </c:pt>
                <c:pt idx="3">
                  <c:v>35</c:v>
                </c:pt>
                <c:pt idx="4">
                  <c:v>67</c:v>
                </c:pt>
                <c:pt idx="5">
                  <c:v>120</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E8EAF0"/>
                </a:solidFill>
                <a:latin typeface="Arial"/>
              </a:defRPr>
            </a:pPr>
            <a:endParaRPr lang="en-US"/>
          </a:p>
        </c:txPr>
        <c:crossAx val="2094734552"/>
        <c:crosses val="autoZero"/>
        <c:auto val="1"/>
        <c:lblAlgn val="ctr"/>
        <c:noMultiLvlLbl val="1"/>
      </c:catAx>
      <c:valAx>
        <c:axId val="2094734552"/>
        <c:scaling>
          <c:orientation val="minMax"/>
          <c:max val="160"/>
        </c:scaling>
        <c:delete val="0"/>
        <c:axPos val="b"/>
        <c:majorGridlines>
          <c:spPr>
            <a:ln w="6350" cap="flat">
              <a:solidFill>
                <a:srgbClr val="2A2D3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7A809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212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1 – PORTADA
"Buenos días / buenas tardes. Hoy voy a presentarles una oportunidad que ningún marketplace automotriz en Latinoamérica ha capturado todavía: convertir la experiencia de comprar un auto en algo que la gente disfrute, comparta y a lo que regrese todos los días. La propuesta se llama ChileAutos Gaming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2 – EL PROBLEMA
"ChileAutos recibe casi 4 millones de visitas al mes, y el usuario promedio pasa 8 minutos y 39 segundos en el sitio. Eso parece bueno. El problema es lo que pasa después: el usuario se va a Google o a WhatsApp, sin convertir, y no vuelve hasta que quiere comprar otro auto. El sitio es útil, pero no es memorable. No hay razón para regresar mañana. Y mientras tanto, los competidores —Kavak, Yapo, Autocosmos— ofrecen exactamente lo mismo. ¿Cuál es la solución? Hacer que volver sea divertido."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3 – LA SOLUCIÓN
"La propuesta es simple: integrar una plataforma de videojuegos temáticos dentro de chileautos.cl. No hablamos de poner un banner de un juego externo. Hablamos de un ecosistema nativo donde cada juego está diseñado para llevar al usuario de vuelta al catálogo de autos. Los números globales son contundentes: las plataformas gamificadas logran hasta 150% más engagement, retienen un 22% más de usuarios y su contenido se comparte 12 veces más. Una empresa automotriz en UK logró 20 minutos de engagement promedio por jugador. Eso es más que una visita normal a ChileAutos."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4 – LOS JUEGOS
"El portafolio contempla 6 experiencias. El juego principal es la Concesionaria Virtual: un simulador de negocio donde usas autos reales del catálogo de ChileAutos como activos del juego. Cuanto más juegas, más conoces el mercado... y más ganas de comprar el auto de verdad. Luego tenemos ChileKart Racers, una carrera estilo Mario Kart con los modelos más buscados: la Toyota Hilux, el RAV4, el Suzuki Swift, corriendo por la Costanera o la Ruta 68. Mecánico Pro educa sobre mantención. '¿Cuánto Vale?' convierte los precios reales del sitio en trivia. El Test Drive Quiz es viral por naturaleza —te dice qué auto eres según tu estilo de vida— y termina directo en fichas reales del marketplace. Y el Álbum del Motorista crea comunidad con coleccionables digitales. Cada juego, sin excepción, tiene un puente de vuelta al catálogo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5 – IMPACTO
"Hablemos de números. En tiempo de sesión esperamos un alza de entre 40% y 150% —el gráfico muestra el escenario central. Retorno de usuarios +41%. Leads nuevos +40%. Tasa de conversión entre +15% y +54% según el benchmark de Teleflora. Tráfico orgánico entre +30% y +105%. Y en viralidad, el contenido gamificado se comparte en promedio 12 veces más que el estático. Con 3,89 millones de visitas mensuales como base, un alza conservadora del 30% nos daría más de un millón de visitas adicionales al mes. Y el tiempo de recuperación de la inversión en escenario conservador es de entre 8 y 14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6 – MONETIZACIÓN
"La propuesta no solo reduce el costo de adquisición de usuarios. Crea ingresos nuevos. Hay seis fuentes: Primero, publicidad in-game: Toyota o Chevrolet patrocinando una pista de ChileKart vale mucho más que un banner estático, porque el usuario interactúa con la marca. Segundo, membresía premium. Tercero, y el más atractivo para el modelo de negocio: partnerships B2B. Las concesionarias pagan para existir como franquicia dentro del juego, y cuando un jugador visita su concesionaria virtual, recibe un cupón para la física. Es un lead calificadísimo. Cuarto, data: los patrones de juego revelan intención de compra, un activo valiosísimo para bancos y aseguradoras. Y por último, el Torneo Nacional con un auto como premio: eso es prensa gratuita garantizada."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7 – ROADMAP
"El plan es en tres fases para gestionar el riesgo. Fase 1, los primeros 90 días: lanzamos dos minijuegos en HTML5 —los más baratos de desarrollar— con un sistema de puntos básico. Inversión: entre 15 y 30 millones de pesos. Si el engagement sube más de 20%, activamos la Fase 2. En los meses 4 a 9 llegamos con ChileKart, las primeras marcas patrocinadoras y la membresía premium. Y en el año 2, la plataforma completa: la Concesionaria Virtual, el Torneo Nacional y la app móvil. El principio rector es: no apostamos todo desde el día uno. Probamos, medimos, y escalamos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8 – RIESGOS
"Toda propuesta de negocio honesta muestra sus riesgos. El riesgo alto es el costo de desarrollo. Un videojuego de calidad puede costar caro. Por eso nuestra Fase 1 usa HTML5 —tecnología web estándar, sin motor de juego pesado, desarrollable en 60 días por un equipo pequeño. El riesgo medio más importante es la dilución: que el usuario juegue pero no compre. Nuestra respuesta es que cada juego tiene un CTA directo al catálogo. Y el riesgo bajo es que la competencia copie. Pero el que llegue primero acumula los datos de comportamiento primero, y esa ventaja es estructural."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SPEECH SLIDE 9 – CIERRE
"Para cerrar. ChileAutos tiene hoy una ventana de 12 a 18 meses para establecer una posición que ningún competidor regional tiene. La gamificación en marketplaces es una tendencia de adopción acelerada. Podemos tener un MVP funcionando en 90 días. El ROI en escenario conservador llega en menos de un año. Y lo más importante: el riesgo de no hacer nada es mayor que el de actuar. Porque si Kavak o Yapo lanzan esto primero, recuperar esa posición cuesta diez veces más. La propuesta está sobre la mesa. El primer paso es aprobar el presupuesto de la Fase 1. ¿Nos lanzamos?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8002D"/>
          </a:solidFill>
          <a:ln w="12700">
            <a:solidFill>
              <a:srgbClr val="E8002D"/>
            </a:solidFill>
            <a:prstDash val="solid"/>
          </a:ln>
        </p:spPr>
      </p:sp>
      <p:sp>
        <p:nvSpPr>
          <p:cNvPr id="3" name="Shape 1"/>
          <p:cNvSpPr/>
          <p:nvPr/>
        </p:nvSpPr>
        <p:spPr>
          <a:xfrm>
            <a:off x="6583680" y="-914400"/>
            <a:ext cx="4114800" cy="4114800"/>
          </a:xfrm>
          <a:prstGeom prst="ellipse">
            <a:avLst/>
          </a:prstGeom>
          <a:solidFill>
            <a:srgbClr val="E8002D">
              <a:alpha val="12000"/>
            </a:srgbClr>
          </a:solidFill>
          <a:ln w="12700">
            <a:solidFill>
              <a:srgbClr val="E8002D">
                <a:alpha val="12000"/>
              </a:srgbClr>
            </a:solidFill>
            <a:prstDash val="solid"/>
          </a:ln>
        </p:spPr>
      </p:sp>
      <p:sp>
        <p:nvSpPr>
          <p:cNvPr id="4" name="Text 2"/>
          <p:cNvSpPr/>
          <p:nvPr/>
        </p:nvSpPr>
        <p:spPr>
          <a:xfrm>
            <a:off x="365760" y="502920"/>
            <a:ext cx="5486400" cy="274320"/>
          </a:xfrm>
          <a:prstGeom prst="rect">
            <a:avLst/>
          </a:prstGeom>
          <a:noFill/>
          <a:ln/>
        </p:spPr>
        <p:txBody>
          <a:bodyPr wrap="square" lIns="0" tIns="0" rIns="0" bIns="0" rtlCol="0" anchor="ctr"/>
          <a:lstStyle/>
          <a:p>
            <a:pPr indent="0" marL="0">
              <a:buNone/>
            </a:pPr>
            <a:r>
              <a:rPr lang="en-US" sz="900" spc="400" kern="0" dirty="0">
                <a:solidFill>
                  <a:srgbClr val="E8002D"/>
                </a:solidFill>
                <a:latin typeface="Arial Black" pitchFamily="34" charset="0"/>
                <a:ea typeface="Arial Black" pitchFamily="34" charset="-122"/>
                <a:cs typeface="Arial Black" pitchFamily="34" charset="-120"/>
              </a:rPr>
              <a:t>IDEA DE NEGOCIO · MAYO 2026</a:t>
            </a:r>
            <a:endParaRPr lang="en-US" sz="900" dirty="0"/>
          </a:p>
        </p:txBody>
      </p:sp>
      <p:sp>
        <p:nvSpPr>
          <p:cNvPr id="5" name="Text 3"/>
          <p:cNvSpPr/>
          <p:nvPr/>
        </p:nvSpPr>
        <p:spPr>
          <a:xfrm>
            <a:off x="365760" y="914400"/>
            <a:ext cx="8229600" cy="1005840"/>
          </a:xfrm>
          <a:prstGeom prst="rect">
            <a:avLst/>
          </a:prstGeom>
          <a:noFill/>
          <a:ln/>
        </p:spPr>
        <p:txBody>
          <a:bodyPr wrap="square" lIns="0" tIns="0" rIns="0" bIns="0" rtlCol="0" anchor="ctr"/>
          <a:lstStyle/>
          <a:p>
            <a:pPr indent="0" marL="0">
              <a:buNone/>
            </a:pPr>
            <a:r>
              <a:rPr lang="en-US" sz="6400" b="1" dirty="0">
                <a:solidFill>
                  <a:srgbClr val="FFFFFF"/>
                </a:solidFill>
                <a:latin typeface="Arial Black" pitchFamily="34" charset="0"/>
                <a:ea typeface="Arial Black" pitchFamily="34" charset="-122"/>
                <a:cs typeface="Arial Black" pitchFamily="34" charset="-120"/>
              </a:rPr>
              <a:t>CHILEAUTOS</a:t>
            </a:r>
            <a:endParaRPr lang="en-US" sz="6400" dirty="0"/>
          </a:p>
        </p:txBody>
      </p:sp>
      <p:sp>
        <p:nvSpPr>
          <p:cNvPr id="6" name="Text 4"/>
          <p:cNvSpPr/>
          <p:nvPr/>
        </p:nvSpPr>
        <p:spPr>
          <a:xfrm>
            <a:off x="365760" y="1828800"/>
            <a:ext cx="8229600" cy="1005840"/>
          </a:xfrm>
          <a:prstGeom prst="rect">
            <a:avLst/>
          </a:prstGeom>
          <a:noFill/>
          <a:ln/>
        </p:spPr>
        <p:txBody>
          <a:bodyPr wrap="square" lIns="0" tIns="0" rIns="0" bIns="0" rtlCol="0" anchor="ctr"/>
          <a:lstStyle/>
          <a:p>
            <a:pPr indent="0" marL="0">
              <a:buNone/>
            </a:pPr>
            <a:r>
              <a:rPr lang="en-US" sz="6400" b="1" dirty="0">
                <a:solidFill>
                  <a:srgbClr val="E8002D"/>
                </a:solidFill>
                <a:latin typeface="Arial Black" pitchFamily="34" charset="0"/>
                <a:ea typeface="Arial Black" pitchFamily="34" charset="-122"/>
                <a:cs typeface="Arial Black" pitchFamily="34" charset="-120"/>
              </a:rPr>
              <a:t>GAMING HUB</a:t>
            </a:r>
            <a:endParaRPr lang="en-US" sz="6400" dirty="0"/>
          </a:p>
        </p:txBody>
      </p:sp>
      <p:sp>
        <p:nvSpPr>
          <p:cNvPr id="7" name="Text 5"/>
          <p:cNvSpPr/>
          <p:nvPr/>
        </p:nvSpPr>
        <p:spPr>
          <a:xfrm>
            <a:off x="365760" y="2971800"/>
            <a:ext cx="7132320" cy="914400"/>
          </a:xfrm>
          <a:prstGeom prst="rect">
            <a:avLst/>
          </a:prstGeom>
          <a:noFill/>
          <a:ln/>
        </p:spPr>
        <p:txBody>
          <a:bodyPr wrap="square" lIns="0" tIns="0" rIns="0" bIns="0" rtlCol="0" anchor="ctr"/>
          <a:lstStyle/>
          <a:p>
            <a:pPr indent="0" marL="0">
              <a:buNone/>
            </a:pPr>
            <a:r>
              <a:rPr lang="en-US" sz="1400" dirty="0">
                <a:solidFill>
                  <a:srgbClr val="7A8090"/>
                </a:solidFill>
                <a:latin typeface="Calibri" pitchFamily="34" charset="0"/>
                <a:ea typeface="Calibri" pitchFamily="34" charset="-122"/>
                <a:cs typeface="Calibri" pitchFamily="34" charset="-120"/>
              </a:rPr>
              <a:t>Transformar el marketplace automotriz #1 de Chile</a:t>
            </a:r>
            <a:endParaRPr lang="en-US" sz="1400" dirty="0"/>
          </a:p>
          <a:p>
            <a:pPr indent="0" marL="0">
              <a:buNone/>
            </a:pPr>
            <a:r>
              <a:rPr lang="en-US" sz="1400" dirty="0">
                <a:solidFill>
                  <a:srgbClr val="7A8090"/>
                </a:solidFill>
                <a:latin typeface="Calibri" pitchFamily="34" charset="0"/>
                <a:ea typeface="Calibri" pitchFamily="34" charset="-122"/>
                <a:cs typeface="Calibri" pitchFamily="34" charset="-120"/>
              </a:rPr>
              <a:t>en la primera plataforma de entretenimiento y comercio vehicular de Latinoamérica</a:t>
            </a:r>
            <a:endParaRPr lang="en-US" sz="1400" dirty="0"/>
          </a:p>
        </p:txBody>
      </p:sp>
      <p:sp>
        <p:nvSpPr>
          <p:cNvPr id="8" name="Shape 6"/>
          <p:cNvSpPr/>
          <p:nvPr/>
        </p:nvSpPr>
        <p:spPr>
          <a:xfrm>
            <a:off x="365760" y="4206240"/>
            <a:ext cx="2560320" cy="594360"/>
          </a:xfrm>
          <a:prstGeom prst="rect">
            <a:avLst/>
          </a:prstGeom>
          <a:solidFill>
            <a:srgbClr val="181A1C"/>
          </a:solidFill>
          <a:ln w="12700">
            <a:solidFill>
              <a:srgbClr val="2A2D32"/>
            </a:solidFill>
            <a:prstDash val="solid"/>
          </a:ln>
        </p:spPr>
      </p:sp>
      <p:sp>
        <p:nvSpPr>
          <p:cNvPr id="9" name="Text 7"/>
          <p:cNvSpPr/>
          <p:nvPr/>
        </p:nvSpPr>
        <p:spPr>
          <a:xfrm>
            <a:off x="365760" y="4224528"/>
            <a:ext cx="2560320" cy="201168"/>
          </a:xfrm>
          <a:prstGeom prst="rect">
            <a:avLst/>
          </a:prstGeom>
          <a:noFill/>
          <a:ln/>
        </p:spPr>
        <p:txBody>
          <a:bodyPr wrap="square" lIns="0" tIns="0" rIns="0" bIns="0" rtlCol="0" anchor="ctr"/>
          <a:lstStyle/>
          <a:p>
            <a:pPr algn="ctr" indent="0" marL="0">
              <a:buNone/>
            </a:pPr>
            <a:r>
              <a:rPr lang="en-US" sz="700" spc="200" kern="0" dirty="0">
                <a:solidFill>
                  <a:srgbClr val="E8002D"/>
                </a:solidFill>
                <a:latin typeface="Calibri" pitchFamily="34" charset="0"/>
                <a:ea typeface="Calibri" pitchFamily="34" charset="-122"/>
                <a:cs typeface="Calibri" pitchFamily="34" charset="-120"/>
              </a:rPr>
              <a:t>AUDIENCIA</a:t>
            </a:r>
            <a:endParaRPr lang="en-US" sz="700" dirty="0"/>
          </a:p>
        </p:txBody>
      </p:sp>
      <p:sp>
        <p:nvSpPr>
          <p:cNvPr id="10" name="Text 8"/>
          <p:cNvSpPr/>
          <p:nvPr/>
        </p:nvSpPr>
        <p:spPr>
          <a:xfrm>
            <a:off x="365760" y="4434840"/>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18–45 años</a:t>
            </a:r>
            <a:endParaRPr lang="en-US" sz="1100" dirty="0"/>
          </a:p>
        </p:txBody>
      </p:sp>
      <p:sp>
        <p:nvSpPr>
          <p:cNvPr id="11" name="Shape 9"/>
          <p:cNvSpPr/>
          <p:nvPr/>
        </p:nvSpPr>
        <p:spPr>
          <a:xfrm>
            <a:off x="3200400" y="4206240"/>
            <a:ext cx="2560320" cy="594360"/>
          </a:xfrm>
          <a:prstGeom prst="rect">
            <a:avLst/>
          </a:prstGeom>
          <a:solidFill>
            <a:srgbClr val="181A1C"/>
          </a:solidFill>
          <a:ln w="12700">
            <a:solidFill>
              <a:srgbClr val="2A2D32"/>
            </a:solidFill>
            <a:prstDash val="solid"/>
          </a:ln>
        </p:spPr>
      </p:sp>
      <p:sp>
        <p:nvSpPr>
          <p:cNvPr id="12" name="Text 10"/>
          <p:cNvSpPr/>
          <p:nvPr/>
        </p:nvSpPr>
        <p:spPr>
          <a:xfrm>
            <a:off x="3200400" y="4224528"/>
            <a:ext cx="2560320" cy="201168"/>
          </a:xfrm>
          <a:prstGeom prst="rect">
            <a:avLst/>
          </a:prstGeom>
          <a:noFill/>
          <a:ln/>
        </p:spPr>
        <p:txBody>
          <a:bodyPr wrap="square" lIns="0" tIns="0" rIns="0" bIns="0" rtlCol="0" anchor="ctr"/>
          <a:lstStyle/>
          <a:p>
            <a:pPr algn="ctr" indent="0" marL="0">
              <a:buNone/>
            </a:pPr>
            <a:r>
              <a:rPr lang="en-US" sz="700" spc="200" kern="0" dirty="0">
                <a:solidFill>
                  <a:srgbClr val="E8002D"/>
                </a:solidFill>
                <a:latin typeface="Calibri" pitchFamily="34" charset="0"/>
                <a:ea typeface="Calibri" pitchFamily="34" charset="-122"/>
                <a:cs typeface="Calibri" pitchFamily="34" charset="-120"/>
              </a:rPr>
              <a:t>HORIZONTE</a:t>
            </a:r>
            <a:endParaRPr lang="en-US" sz="700" dirty="0"/>
          </a:p>
        </p:txBody>
      </p:sp>
      <p:sp>
        <p:nvSpPr>
          <p:cNvPr id="13" name="Text 11"/>
          <p:cNvSpPr/>
          <p:nvPr/>
        </p:nvSpPr>
        <p:spPr>
          <a:xfrm>
            <a:off x="3200400" y="4434840"/>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12–36 meses</a:t>
            </a:r>
            <a:endParaRPr lang="en-US" sz="1100" dirty="0"/>
          </a:p>
        </p:txBody>
      </p:sp>
      <p:sp>
        <p:nvSpPr>
          <p:cNvPr id="14" name="Shape 12"/>
          <p:cNvSpPr/>
          <p:nvPr/>
        </p:nvSpPr>
        <p:spPr>
          <a:xfrm>
            <a:off x="6035040" y="4206240"/>
            <a:ext cx="2560320" cy="594360"/>
          </a:xfrm>
          <a:prstGeom prst="rect">
            <a:avLst/>
          </a:prstGeom>
          <a:solidFill>
            <a:srgbClr val="181A1C"/>
          </a:solidFill>
          <a:ln w="12700">
            <a:solidFill>
              <a:srgbClr val="2A2D32"/>
            </a:solidFill>
            <a:prstDash val="solid"/>
          </a:ln>
        </p:spPr>
      </p:sp>
      <p:sp>
        <p:nvSpPr>
          <p:cNvPr id="15" name="Text 13"/>
          <p:cNvSpPr/>
          <p:nvPr/>
        </p:nvSpPr>
        <p:spPr>
          <a:xfrm>
            <a:off x="6035040" y="4224528"/>
            <a:ext cx="2560320" cy="201168"/>
          </a:xfrm>
          <a:prstGeom prst="rect">
            <a:avLst/>
          </a:prstGeom>
          <a:noFill/>
          <a:ln/>
        </p:spPr>
        <p:txBody>
          <a:bodyPr wrap="square" lIns="0" tIns="0" rIns="0" bIns="0" rtlCol="0" anchor="ctr"/>
          <a:lstStyle/>
          <a:p>
            <a:pPr algn="ctr" indent="0" marL="0">
              <a:buNone/>
            </a:pPr>
            <a:r>
              <a:rPr lang="en-US" sz="700" spc="200" kern="0" dirty="0">
                <a:solidFill>
                  <a:srgbClr val="E8002D"/>
                </a:solidFill>
                <a:latin typeface="Calibri" pitchFamily="34" charset="0"/>
                <a:ea typeface="Calibri" pitchFamily="34" charset="-122"/>
                <a:cs typeface="Calibri" pitchFamily="34" charset="-120"/>
              </a:rPr>
              <a:t>MERCADO</a:t>
            </a:r>
            <a:endParaRPr lang="en-US" sz="700" dirty="0"/>
          </a:p>
        </p:txBody>
      </p:sp>
      <p:sp>
        <p:nvSpPr>
          <p:cNvPr id="16" name="Text 14"/>
          <p:cNvSpPr/>
          <p:nvPr/>
        </p:nvSpPr>
        <p:spPr>
          <a:xfrm>
            <a:off x="6035040" y="4434840"/>
            <a:ext cx="2560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21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D60A"/>
          </a:solidFill>
          <a:ln w="12700">
            <a:solidFill>
              <a:srgbClr val="FFD60A"/>
            </a:solidFill>
            <a:prstDash val="solid"/>
          </a:ln>
        </p:spPr>
      </p:sp>
      <p:sp>
        <p:nvSpPr>
          <p:cNvPr id="3" name="Text 1"/>
          <p:cNvSpPr/>
          <p:nvPr/>
        </p:nvSpPr>
        <p:spPr>
          <a:xfrm>
            <a:off x="320040" y="274320"/>
            <a:ext cx="8229600" cy="411480"/>
          </a:xfrm>
          <a:prstGeom prst="rect">
            <a:avLst/>
          </a:prstGeom>
          <a:noFill/>
          <a:ln/>
        </p:spPr>
        <p:txBody>
          <a:bodyPr wrap="square" lIns="0" tIns="0" rIns="0" bIns="0" rtlCol="0" anchor="ctr"/>
          <a:lstStyle/>
          <a:p>
            <a:pPr indent="0" marL="0">
              <a:buNone/>
            </a:pPr>
            <a:r>
              <a:rPr lang="en-US" sz="1000" spc="300" kern="0" dirty="0">
                <a:solidFill>
                  <a:srgbClr val="FFD60A"/>
                </a:solidFill>
                <a:latin typeface="Arial Black" pitchFamily="34" charset="0"/>
                <a:ea typeface="Arial Black" pitchFamily="34" charset="-122"/>
                <a:cs typeface="Arial Black" pitchFamily="34" charset="-120"/>
              </a:rPr>
              <a:t>02 · EL PROBLEMA</a:t>
            </a:r>
            <a:endParaRPr lang="en-US" sz="1000" dirty="0"/>
          </a:p>
        </p:txBody>
      </p:sp>
      <p:sp>
        <p:nvSpPr>
          <p:cNvPr id="4" name="Text 2"/>
          <p:cNvSpPr/>
          <p:nvPr/>
        </p:nvSpPr>
        <p:spPr>
          <a:xfrm>
            <a:off x="320040" y="749808"/>
            <a:ext cx="8412480" cy="914400"/>
          </a:xfrm>
          <a:prstGeom prst="rect">
            <a:avLst/>
          </a:prstGeom>
          <a:noFill/>
          <a:ln/>
        </p:spPr>
        <p:txBody>
          <a:bodyPr wrap="square" lIns="0" tIns="0" rIns="0" bIns="0"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ChileAutos tiene 3,89M visitas/mes…</a:t>
            </a:r>
            <a:endParaRPr lang="en-US" sz="3000" dirty="0"/>
          </a:p>
          <a:p>
            <a:pPr indent="0" marL="0">
              <a:buNone/>
            </a:pPr>
            <a:r>
              <a:rPr lang="en-US" sz="3000" b="1" dirty="0">
                <a:solidFill>
                  <a:srgbClr val="FFFFFF"/>
                </a:solidFill>
                <a:latin typeface="Arial Black" pitchFamily="34" charset="0"/>
                <a:ea typeface="Arial Black" pitchFamily="34" charset="-122"/>
                <a:cs typeface="Arial Black" pitchFamily="34" charset="-120"/>
              </a:rPr>
              <a:t>¿y las pierde al instante?</a:t>
            </a:r>
            <a:endParaRPr lang="en-US" sz="3000" dirty="0"/>
          </a:p>
        </p:txBody>
      </p:sp>
      <p:sp>
        <p:nvSpPr>
          <p:cNvPr id="5" name="Shape 3"/>
          <p:cNvSpPr/>
          <p:nvPr/>
        </p:nvSpPr>
        <p:spPr>
          <a:xfrm>
            <a:off x="320040" y="1920240"/>
            <a:ext cx="2743200" cy="2606040"/>
          </a:xfrm>
          <a:prstGeom prst="rect">
            <a:avLst/>
          </a:prstGeom>
          <a:solidFill>
            <a:srgbClr val="1E2124"/>
          </a:solidFill>
          <a:ln w="12700">
            <a:solidFill>
              <a:srgbClr val="2A2D32"/>
            </a:solidFill>
            <a:prstDash val="solid"/>
          </a:ln>
        </p:spPr>
      </p:sp>
      <p:sp>
        <p:nvSpPr>
          <p:cNvPr id="6" name="Shape 4"/>
          <p:cNvSpPr/>
          <p:nvPr/>
        </p:nvSpPr>
        <p:spPr>
          <a:xfrm>
            <a:off x="320040" y="1920240"/>
            <a:ext cx="2743200" cy="54864"/>
          </a:xfrm>
          <a:prstGeom prst="rect">
            <a:avLst/>
          </a:prstGeom>
          <a:solidFill>
            <a:srgbClr val="FFD60A"/>
          </a:solidFill>
          <a:ln w="12700">
            <a:solidFill>
              <a:srgbClr val="FFD60A"/>
            </a:solidFill>
            <a:prstDash val="solid"/>
          </a:ln>
        </p:spPr>
      </p:sp>
      <p:sp>
        <p:nvSpPr>
          <p:cNvPr id="7" name="Text 5"/>
          <p:cNvSpPr/>
          <p:nvPr/>
        </p:nvSpPr>
        <p:spPr>
          <a:xfrm>
            <a:off x="320040" y="205740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457200" y="2651760"/>
            <a:ext cx="24688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8:39 min de sesión</a:t>
            </a:r>
            <a:endParaRPr lang="en-US" sz="1300" dirty="0"/>
          </a:p>
        </p:txBody>
      </p:sp>
      <p:sp>
        <p:nvSpPr>
          <p:cNvPr id="9" name="Text 7"/>
          <p:cNvSpPr/>
          <p:nvPr/>
        </p:nvSpPr>
        <p:spPr>
          <a:xfrm>
            <a:off x="457200" y="3127248"/>
            <a:ext cx="2468880" cy="1188720"/>
          </a:xfrm>
          <a:prstGeom prst="rect">
            <a:avLst/>
          </a:prstGeom>
          <a:noFill/>
          <a:ln/>
        </p:spPr>
        <p:txBody>
          <a:bodyPr wrap="square" lIns="0" tIns="0" rIns="0" bIns="0" rtlCol="0" anchor="ctr"/>
          <a:lstStyle/>
          <a:p>
            <a:pPr indent="0" marL="0">
              <a:buNone/>
            </a:pPr>
            <a:r>
              <a:rPr lang="en-US" sz="1100" dirty="0">
                <a:solidFill>
                  <a:srgbClr val="7A8090"/>
                </a:solidFill>
                <a:latin typeface="Calibri" pitchFamily="34" charset="0"/>
                <a:ea typeface="Calibri" pitchFamily="34" charset="-122"/>
                <a:cs typeface="Calibri" pitchFamily="34" charset="-120"/>
              </a:rPr>
              <a:t>Alta intención de compra, pero el usuario se va a Google o WhatsApp sin conversión clara.</a:t>
            </a:r>
            <a:endParaRPr lang="en-US" sz="1100" dirty="0"/>
          </a:p>
        </p:txBody>
      </p:sp>
      <p:sp>
        <p:nvSpPr>
          <p:cNvPr id="10" name="Shape 8"/>
          <p:cNvSpPr/>
          <p:nvPr/>
        </p:nvSpPr>
        <p:spPr>
          <a:xfrm>
            <a:off x="3264408" y="1920240"/>
            <a:ext cx="2743200" cy="2606040"/>
          </a:xfrm>
          <a:prstGeom prst="rect">
            <a:avLst/>
          </a:prstGeom>
          <a:solidFill>
            <a:srgbClr val="1E2124"/>
          </a:solidFill>
          <a:ln w="12700">
            <a:solidFill>
              <a:srgbClr val="2A2D32"/>
            </a:solidFill>
            <a:prstDash val="solid"/>
          </a:ln>
        </p:spPr>
      </p:sp>
      <p:sp>
        <p:nvSpPr>
          <p:cNvPr id="11" name="Shape 9"/>
          <p:cNvSpPr/>
          <p:nvPr/>
        </p:nvSpPr>
        <p:spPr>
          <a:xfrm>
            <a:off x="3264408" y="1920240"/>
            <a:ext cx="2743200" cy="54864"/>
          </a:xfrm>
          <a:prstGeom prst="rect">
            <a:avLst/>
          </a:prstGeom>
          <a:solidFill>
            <a:srgbClr val="FFD60A"/>
          </a:solidFill>
          <a:ln w="12700">
            <a:solidFill>
              <a:srgbClr val="FFD60A"/>
            </a:solidFill>
            <a:prstDash val="solid"/>
          </a:ln>
        </p:spPr>
      </p:sp>
      <p:sp>
        <p:nvSpPr>
          <p:cNvPr id="12" name="Text 10"/>
          <p:cNvSpPr/>
          <p:nvPr/>
        </p:nvSpPr>
        <p:spPr>
          <a:xfrm>
            <a:off x="3264408" y="205740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3401568" y="2651760"/>
            <a:ext cx="24688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Baja recurrencia</a:t>
            </a:r>
            <a:endParaRPr lang="en-US" sz="1300" dirty="0"/>
          </a:p>
        </p:txBody>
      </p:sp>
      <p:sp>
        <p:nvSpPr>
          <p:cNvPr id="14" name="Text 12"/>
          <p:cNvSpPr/>
          <p:nvPr/>
        </p:nvSpPr>
        <p:spPr>
          <a:xfrm>
            <a:off x="3401568" y="3127248"/>
            <a:ext cx="2468880" cy="1188720"/>
          </a:xfrm>
          <a:prstGeom prst="rect">
            <a:avLst/>
          </a:prstGeom>
          <a:noFill/>
          <a:ln/>
        </p:spPr>
        <p:txBody>
          <a:bodyPr wrap="square" lIns="0" tIns="0" rIns="0" bIns="0" rtlCol="0" anchor="ctr"/>
          <a:lstStyle/>
          <a:p>
            <a:pPr indent="0" marL="0">
              <a:buNone/>
            </a:pPr>
            <a:r>
              <a:rPr lang="en-US" sz="1100" dirty="0">
                <a:solidFill>
                  <a:srgbClr val="7A8090"/>
                </a:solidFill>
                <a:latin typeface="Calibri" pitchFamily="34" charset="0"/>
                <a:ea typeface="Calibri" pitchFamily="34" charset="-122"/>
                <a:cs typeface="Calibri" pitchFamily="34" charset="-120"/>
              </a:rPr>
              <a:t>El sitio es consultado solo cuando hay intención de compra. Sin retorno emocional ni fidelización.</a:t>
            </a:r>
            <a:endParaRPr lang="en-US" sz="1100" dirty="0"/>
          </a:p>
        </p:txBody>
      </p:sp>
      <p:sp>
        <p:nvSpPr>
          <p:cNvPr id="15" name="Shape 13"/>
          <p:cNvSpPr/>
          <p:nvPr/>
        </p:nvSpPr>
        <p:spPr>
          <a:xfrm>
            <a:off x="6208776" y="1920240"/>
            <a:ext cx="2743200" cy="2606040"/>
          </a:xfrm>
          <a:prstGeom prst="rect">
            <a:avLst/>
          </a:prstGeom>
          <a:solidFill>
            <a:srgbClr val="1E2124"/>
          </a:solidFill>
          <a:ln w="12700">
            <a:solidFill>
              <a:srgbClr val="2A2D32"/>
            </a:solidFill>
            <a:prstDash val="solid"/>
          </a:ln>
        </p:spPr>
      </p:sp>
      <p:sp>
        <p:nvSpPr>
          <p:cNvPr id="16" name="Shape 14"/>
          <p:cNvSpPr/>
          <p:nvPr/>
        </p:nvSpPr>
        <p:spPr>
          <a:xfrm>
            <a:off x="6208776" y="1920240"/>
            <a:ext cx="2743200" cy="54864"/>
          </a:xfrm>
          <a:prstGeom prst="rect">
            <a:avLst/>
          </a:prstGeom>
          <a:solidFill>
            <a:srgbClr val="FFD60A"/>
          </a:solidFill>
          <a:ln w="12700">
            <a:solidFill>
              <a:srgbClr val="FFD60A"/>
            </a:solidFill>
            <a:prstDash val="solid"/>
          </a:ln>
        </p:spPr>
      </p:sp>
      <p:sp>
        <p:nvSpPr>
          <p:cNvPr id="17" name="Text 15"/>
          <p:cNvSpPr/>
          <p:nvPr/>
        </p:nvSpPr>
        <p:spPr>
          <a:xfrm>
            <a:off x="6208776" y="205740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6345936" y="2651760"/>
            <a:ext cx="2468880" cy="41148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Sin diferenciación</a:t>
            </a:r>
            <a:endParaRPr lang="en-US" sz="1300" dirty="0"/>
          </a:p>
        </p:txBody>
      </p:sp>
      <p:sp>
        <p:nvSpPr>
          <p:cNvPr id="19" name="Text 17"/>
          <p:cNvSpPr/>
          <p:nvPr/>
        </p:nvSpPr>
        <p:spPr>
          <a:xfrm>
            <a:off x="6345936" y="3127248"/>
            <a:ext cx="2468880" cy="1188720"/>
          </a:xfrm>
          <a:prstGeom prst="rect">
            <a:avLst/>
          </a:prstGeom>
          <a:noFill/>
          <a:ln/>
        </p:spPr>
        <p:txBody>
          <a:bodyPr wrap="square" lIns="0" tIns="0" rIns="0" bIns="0" rtlCol="0" anchor="ctr"/>
          <a:lstStyle/>
          <a:p>
            <a:pPr indent="0" marL="0">
              <a:buNone/>
            </a:pPr>
            <a:r>
              <a:rPr lang="en-US" sz="1100" dirty="0">
                <a:solidFill>
                  <a:srgbClr val="7A8090"/>
                </a:solidFill>
                <a:latin typeface="Calibri" pitchFamily="34" charset="0"/>
                <a:ea typeface="Calibri" pitchFamily="34" charset="-122"/>
                <a:cs typeface="Calibri" pitchFamily="34" charset="-120"/>
              </a:rPr>
              <a:t>Kavak, Yapo y Autocosmos compiten por el mismo usuario. No hay una ventaja experiencial única.</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8002D">
              <a:alpha val="6000"/>
            </a:srgbClr>
          </a:solidFill>
          <a:ln w="12700">
            <a:solidFill>
              <a:srgbClr val="E8002D">
                <a:alpha val="6000"/>
              </a:srgbClr>
            </a:solidFill>
            <a:prstDash val="solid"/>
          </a:ln>
        </p:spPr>
      </p:sp>
      <p:sp>
        <p:nvSpPr>
          <p:cNvPr id="3" name="Text 1"/>
          <p:cNvSpPr/>
          <p:nvPr/>
        </p:nvSpPr>
        <p:spPr>
          <a:xfrm>
            <a:off x="457200" y="274320"/>
            <a:ext cx="8229600" cy="365760"/>
          </a:xfrm>
          <a:prstGeom prst="rect">
            <a:avLst/>
          </a:prstGeom>
          <a:noFill/>
          <a:ln/>
        </p:spPr>
        <p:txBody>
          <a:bodyPr wrap="square" lIns="0" tIns="0" rIns="0" bIns="0" rtlCol="0" anchor="ctr"/>
          <a:lstStyle/>
          <a:p>
            <a:pPr indent="0" marL="0">
              <a:buNone/>
            </a:pPr>
            <a:r>
              <a:rPr lang="en-US" sz="1000" spc="300" kern="0" dirty="0">
                <a:solidFill>
                  <a:srgbClr val="E8002D"/>
                </a:solidFill>
                <a:latin typeface="Arial Black" pitchFamily="34" charset="0"/>
                <a:ea typeface="Arial Black" pitchFamily="34" charset="-122"/>
                <a:cs typeface="Arial Black" pitchFamily="34" charset="-120"/>
              </a:rPr>
              <a:t>03 · LA SOLUCIÓN</a:t>
            </a:r>
            <a:endParaRPr lang="en-US" sz="1000" dirty="0"/>
          </a:p>
        </p:txBody>
      </p:sp>
      <p:sp>
        <p:nvSpPr>
          <p:cNvPr id="4" name="Text 2"/>
          <p:cNvSpPr/>
          <p:nvPr/>
        </p:nvSpPr>
        <p:spPr>
          <a:xfrm>
            <a:off x="457200" y="731520"/>
            <a:ext cx="8229600" cy="1005840"/>
          </a:xfrm>
          <a:prstGeom prst="rect">
            <a:avLst/>
          </a:prstGeom>
          <a:noFill/>
          <a:ln/>
        </p:spPr>
        <p:txBody>
          <a:bodyPr wrap="square" lIns="0" tIns="0" rIns="0" bIns="0" rtlCol="0" anchor="ctr"/>
          <a:lstStyle/>
          <a:p>
            <a:pPr indent="0" marL="0">
              <a:buNone/>
            </a:pPr>
            <a:r>
              <a:rPr lang="en-US" sz="3600" b="1" dirty="0">
                <a:solidFill>
                  <a:srgbClr val="FFFFFF"/>
                </a:solidFill>
                <a:latin typeface="Arial Black" pitchFamily="34" charset="0"/>
                <a:ea typeface="Arial Black" pitchFamily="34" charset="-122"/>
                <a:cs typeface="Arial Black" pitchFamily="34" charset="-120"/>
              </a:rPr>
              <a:t>Un ecosistema de juegos integrado</a:t>
            </a:r>
            <a:endParaRPr lang="en-US" sz="3600" dirty="0"/>
          </a:p>
          <a:p>
            <a:pPr indent="0" marL="0">
              <a:buNone/>
            </a:pPr>
            <a:r>
              <a:rPr lang="en-US" sz="3600" b="1" dirty="0">
                <a:solidFill>
                  <a:srgbClr val="FFFFFF"/>
                </a:solidFill>
                <a:latin typeface="Arial Black" pitchFamily="34" charset="0"/>
                <a:ea typeface="Arial Black" pitchFamily="34" charset="-122"/>
                <a:cs typeface="Arial Black" pitchFamily="34" charset="-120"/>
              </a:rPr>
              <a:t>dentro de chileautos.cl</a:t>
            </a:r>
            <a:endParaRPr lang="en-US" sz="3600" dirty="0"/>
          </a:p>
        </p:txBody>
      </p:sp>
      <p:sp>
        <p:nvSpPr>
          <p:cNvPr id="5" name="Text 3"/>
          <p:cNvSpPr/>
          <p:nvPr/>
        </p:nvSpPr>
        <p:spPr>
          <a:xfrm>
            <a:off x="457200" y="1874520"/>
            <a:ext cx="8229600" cy="685800"/>
          </a:xfrm>
          <a:prstGeom prst="rect">
            <a:avLst/>
          </a:prstGeom>
          <a:noFill/>
          <a:ln/>
        </p:spPr>
        <p:txBody>
          <a:bodyPr wrap="square" lIns="0" tIns="0" rIns="0" bIns="0" rtlCol="0" anchor="ctr"/>
          <a:lstStyle/>
          <a:p>
            <a:pPr indent="0" marL="0">
              <a:buNone/>
            </a:pPr>
            <a:r>
              <a:rPr lang="en-US" sz="1400" dirty="0">
                <a:solidFill>
                  <a:srgbClr val="E8EAF0"/>
                </a:solidFill>
                <a:latin typeface="Calibri" pitchFamily="34" charset="0"/>
                <a:ea typeface="Calibri" pitchFamily="34" charset="-122"/>
                <a:cs typeface="Calibri" pitchFamily="34" charset="-120"/>
              </a:rPr>
              <a:t>Cada juego lleva de vuelta al marketplace. Cada partida genera datos de intención de compra.</a:t>
            </a:r>
            <a:endParaRPr lang="en-US" sz="1400" dirty="0"/>
          </a:p>
          <a:p>
            <a:pPr indent="0" marL="0">
              <a:buNone/>
            </a:pPr>
            <a:r>
              <a:rPr lang="en-US" sz="1400" dirty="0">
                <a:solidFill>
                  <a:srgbClr val="E8EAF0"/>
                </a:solidFill>
                <a:latin typeface="Calibri" pitchFamily="34" charset="0"/>
                <a:ea typeface="Calibri" pitchFamily="34" charset="-122"/>
                <a:cs typeface="Calibri" pitchFamily="34" charset="-120"/>
              </a:rPr>
              <a:t>Cada logro se canjea por beneficios reales.</a:t>
            </a:r>
            <a:endParaRPr lang="en-US" sz="1400" dirty="0"/>
          </a:p>
        </p:txBody>
      </p:sp>
      <p:sp>
        <p:nvSpPr>
          <p:cNvPr id="6" name="Shape 4"/>
          <p:cNvSpPr/>
          <p:nvPr/>
        </p:nvSpPr>
        <p:spPr>
          <a:xfrm>
            <a:off x="365760" y="2788920"/>
            <a:ext cx="1965960" cy="2011680"/>
          </a:xfrm>
          <a:prstGeom prst="rect">
            <a:avLst/>
          </a:prstGeom>
          <a:solidFill>
            <a:srgbClr val="181A1C"/>
          </a:solidFill>
          <a:ln w="12700">
            <a:solidFill>
              <a:srgbClr val="2A2D32"/>
            </a:solidFill>
            <a:prstDash val="solid"/>
          </a:ln>
        </p:spPr>
      </p:sp>
      <p:sp>
        <p:nvSpPr>
          <p:cNvPr id="7" name="Shape 5"/>
          <p:cNvSpPr/>
          <p:nvPr/>
        </p:nvSpPr>
        <p:spPr>
          <a:xfrm>
            <a:off x="365760" y="2788920"/>
            <a:ext cx="1965960" cy="54864"/>
          </a:xfrm>
          <a:prstGeom prst="rect">
            <a:avLst/>
          </a:prstGeom>
          <a:solidFill>
            <a:srgbClr val="00C896"/>
          </a:solidFill>
          <a:ln w="12700">
            <a:solidFill>
              <a:srgbClr val="00C896"/>
            </a:solidFill>
            <a:prstDash val="solid"/>
          </a:ln>
        </p:spPr>
      </p:sp>
      <p:sp>
        <p:nvSpPr>
          <p:cNvPr id="8" name="Text 6"/>
          <p:cNvSpPr/>
          <p:nvPr/>
        </p:nvSpPr>
        <p:spPr>
          <a:xfrm>
            <a:off x="365760" y="2907792"/>
            <a:ext cx="1965960" cy="685800"/>
          </a:xfrm>
          <a:prstGeom prst="rect">
            <a:avLst/>
          </a:prstGeom>
          <a:noFill/>
          <a:ln/>
        </p:spPr>
        <p:txBody>
          <a:bodyPr wrap="square" lIns="0" tIns="0" rIns="0" bIns="0" rtlCol="0" anchor="ctr"/>
          <a:lstStyle/>
          <a:p>
            <a:pPr algn="ctr" indent="0" marL="0">
              <a:buNone/>
            </a:pPr>
            <a:r>
              <a:rPr lang="en-US" sz="3000" b="1" dirty="0">
                <a:solidFill>
                  <a:srgbClr val="00C896"/>
                </a:solidFill>
                <a:latin typeface="Arial Black" pitchFamily="34" charset="0"/>
                <a:ea typeface="Arial Black" pitchFamily="34" charset="-122"/>
                <a:cs typeface="Arial Black" pitchFamily="34" charset="-120"/>
              </a:rPr>
              <a:t>+150%</a:t>
            </a:r>
            <a:endParaRPr lang="en-US" sz="3000" dirty="0"/>
          </a:p>
        </p:txBody>
      </p:sp>
      <p:sp>
        <p:nvSpPr>
          <p:cNvPr id="9" name="Text 7"/>
          <p:cNvSpPr/>
          <p:nvPr/>
        </p:nvSpPr>
        <p:spPr>
          <a:xfrm>
            <a:off x="365760" y="3639312"/>
            <a:ext cx="1965960" cy="1005840"/>
          </a:xfrm>
          <a:prstGeom prst="rect">
            <a:avLst/>
          </a:prstGeom>
          <a:noFill/>
          <a:ln/>
        </p:spPr>
        <p:txBody>
          <a:bodyPr wrap="square" lIns="0" tIns="0" rIns="0" bIns="0" rtlCol="0" anchor="ctr"/>
          <a:lstStyle/>
          <a:p>
            <a:pPr algn="ctr" indent="0" marL="0">
              <a:buNone/>
            </a:pPr>
            <a:r>
              <a:rPr lang="en-US" sz="1000" dirty="0">
                <a:solidFill>
                  <a:srgbClr val="7A8090"/>
                </a:solidFill>
                <a:latin typeface="Calibri" pitchFamily="34" charset="0"/>
                <a:ea typeface="Calibri" pitchFamily="34" charset="-122"/>
                <a:cs typeface="Calibri" pitchFamily="34" charset="-120"/>
              </a:rPr>
              <a:t>engagement</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en plataformas</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gamificadas</a:t>
            </a:r>
            <a:endParaRPr lang="en-US" sz="1000" dirty="0"/>
          </a:p>
        </p:txBody>
      </p:sp>
      <p:sp>
        <p:nvSpPr>
          <p:cNvPr id="10" name="Shape 8"/>
          <p:cNvSpPr/>
          <p:nvPr/>
        </p:nvSpPr>
        <p:spPr>
          <a:xfrm>
            <a:off x="2542032" y="2788920"/>
            <a:ext cx="1965960" cy="2011680"/>
          </a:xfrm>
          <a:prstGeom prst="rect">
            <a:avLst/>
          </a:prstGeom>
          <a:solidFill>
            <a:srgbClr val="181A1C"/>
          </a:solidFill>
          <a:ln w="12700">
            <a:solidFill>
              <a:srgbClr val="2A2D32"/>
            </a:solidFill>
            <a:prstDash val="solid"/>
          </a:ln>
        </p:spPr>
      </p:sp>
      <p:sp>
        <p:nvSpPr>
          <p:cNvPr id="11" name="Shape 9"/>
          <p:cNvSpPr/>
          <p:nvPr/>
        </p:nvSpPr>
        <p:spPr>
          <a:xfrm>
            <a:off x="2542032" y="2788920"/>
            <a:ext cx="1965960" cy="54864"/>
          </a:xfrm>
          <a:prstGeom prst="rect">
            <a:avLst/>
          </a:prstGeom>
          <a:solidFill>
            <a:srgbClr val="FFD60A"/>
          </a:solidFill>
          <a:ln w="12700">
            <a:solidFill>
              <a:srgbClr val="FFD60A"/>
            </a:solidFill>
            <a:prstDash val="solid"/>
          </a:ln>
        </p:spPr>
      </p:sp>
      <p:sp>
        <p:nvSpPr>
          <p:cNvPr id="12" name="Text 10"/>
          <p:cNvSpPr/>
          <p:nvPr/>
        </p:nvSpPr>
        <p:spPr>
          <a:xfrm>
            <a:off x="2542032" y="2907792"/>
            <a:ext cx="1965960" cy="685800"/>
          </a:xfrm>
          <a:prstGeom prst="rect">
            <a:avLst/>
          </a:prstGeom>
          <a:noFill/>
          <a:ln/>
        </p:spPr>
        <p:txBody>
          <a:bodyPr wrap="square" lIns="0" tIns="0" rIns="0" bIns="0" rtlCol="0" anchor="ctr"/>
          <a:lstStyle/>
          <a:p>
            <a:pPr algn="ctr" indent="0" marL="0">
              <a:buNone/>
            </a:pPr>
            <a:r>
              <a:rPr lang="en-US" sz="3000" b="1" dirty="0">
                <a:solidFill>
                  <a:srgbClr val="FFD60A"/>
                </a:solidFill>
                <a:latin typeface="Arial Black" pitchFamily="34" charset="0"/>
                <a:ea typeface="Arial Black" pitchFamily="34" charset="-122"/>
                <a:cs typeface="Arial Black" pitchFamily="34" charset="-120"/>
              </a:rPr>
              <a:t>+22%</a:t>
            </a:r>
            <a:endParaRPr lang="en-US" sz="3000" dirty="0"/>
          </a:p>
        </p:txBody>
      </p:sp>
      <p:sp>
        <p:nvSpPr>
          <p:cNvPr id="13" name="Text 11"/>
          <p:cNvSpPr/>
          <p:nvPr/>
        </p:nvSpPr>
        <p:spPr>
          <a:xfrm>
            <a:off x="2542032" y="3639312"/>
            <a:ext cx="1965960" cy="1005840"/>
          </a:xfrm>
          <a:prstGeom prst="rect">
            <a:avLst/>
          </a:prstGeom>
          <a:noFill/>
          <a:ln/>
        </p:spPr>
        <p:txBody>
          <a:bodyPr wrap="square" lIns="0" tIns="0" rIns="0" bIns="0" rtlCol="0" anchor="ctr"/>
          <a:lstStyle/>
          <a:p>
            <a:pPr algn="ctr" indent="0" marL="0">
              <a:buNone/>
            </a:pPr>
            <a:r>
              <a:rPr lang="en-US" sz="1000" dirty="0">
                <a:solidFill>
                  <a:srgbClr val="7A8090"/>
                </a:solidFill>
                <a:latin typeface="Calibri" pitchFamily="34" charset="0"/>
                <a:ea typeface="Calibri" pitchFamily="34" charset="-122"/>
                <a:cs typeface="Calibri" pitchFamily="34" charset="-120"/>
              </a:rPr>
              <a:t>retención de</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usuarios con</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gamificación</a:t>
            </a:r>
            <a:endParaRPr lang="en-US" sz="1000" dirty="0"/>
          </a:p>
        </p:txBody>
      </p:sp>
      <p:sp>
        <p:nvSpPr>
          <p:cNvPr id="14" name="Shape 12"/>
          <p:cNvSpPr/>
          <p:nvPr/>
        </p:nvSpPr>
        <p:spPr>
          <a:xfrm>
            <a:off x="4718304" y="2788920"/>
            <a:ext cx="1965960" cy="2011680"/>
          </a:xfrm>
          <a:prstGeom prst="rect">
            <a:avLst/>
          </a:prstGeom>
          <a:solidFill>
            <a:srgbClr val="181A1C"/>
          </a:solidFill>
          <a:ln w="12700">
            <a:solidFill>
              <a:srgbClr val="2A2D32"/>
            </a:solidFill>
            <a:prstDash val="solid"/>
          </a:ln>
        </p:spPr>
      </p:sp>
      <p:sp>
        <p:nvSpPr>
          <p:cNvPr id="15" name="Shape 13"/>
          <p:cNvSpPr/>
          <p:nvPr/>
        </p:nvSpPr>
        <p:spPr>
          <a:xfrm>
            <a:off x="4718304" y="2788920"/>
            <a:ext cx="1965960" cy="54864"/>
          </a:xfrm>
          <a:prstGeom prst="rect">
            <a:avLst/>
          </a:prstGeom>
          <a:solidFill>
            <a:srgbClr val="3B8BEB"/>
          </a:solidFill>
          <a:ln w="12700">
            <a:solidFill>
              <a:srgbClr val="3B8BEB"/>
            </a:solidFill>
            <a:prstDash val="solid"/>
          </a:ln>
        </p:spPr>
      </p:sp>
      <p:sp>
        <p:nvSpPr>
          <p:cNvPr id="16" name="Text 14"/>
          <p:cNvSpPr/>
          <p:nvPr/>
        </p:nvSpPr>
        <p:spPr>
          <a:xfrm>
            <a:off x="4718304" y="2907792"/>
            <a:ext cx="1965960" cy="685800"/>
          </a:xfrm>
          <a:prstGeom prst="rect">
            <a:avLst/>
          </a:prstGeom>
          <a:noFill/>
          <a:ln/>
        </p:spPr>
        <p:txBody>
          <a:bodyPr wrap="square" lIns="0" tIns="0" rIns="0" bIns="0" rtlCol="0" anchor="ctr"/>
          <a:lstStyle/>
          <a:p>
            <a:pPr algn="ctr" indent="0" marL="0">
              <a:buNone/>
            </a:pPr>
            <a:r>
              <a:rPr lang="en-US" sz="3000" b="1" dirty="0">
                <a:solidFill>
                  <a:srgbClr val="3B8BEB"/>
                </a:solidFill>
                <a:latin typeface="Arial Black" pitchFamily="34" charset="0"/>
                <a:ea typeface="Arial Black" pitchFamily="34" charset="-122"/>
                <a:cs typeface="Arial Black" pitchFamily="34" charset="-120"/>
              </a:rPr>
              <a:t>12×</a:t>
            </a:r>
            <a:endParaRPr lang="en-US" sz="3000" dirty="0"/>
          </a:p>
        </p:txBody>
      </p:sp>
      <p:sp>
        <p:nvSpPr>
          <p:cNvPr id="17" name="Text 15"/>
          <p:cNvSpPr/>
          <p:nvPr/>
        </p:nvSpPr>
        <p:spPr>
          <a:xfrm>
            <a:off x="4718304" y="3639312"/>
            <a:ext cx="1965960" cy="1005840"/>
          </a:xfrm>
          <a:prstGeom prst="rect">
            <a:avLst/>
          </a:prstGeom>
          <a:noFill/>
          <a:ln/>
        </p:spPr>
        <p:txBody>
          <a:bodyPr wrap="square" lIns="0" tIns="0" rIns="0" bIns="0" rtlCol="0" anchor="ctr"/>
          <a:lstStyle/>
          <a:p>
            <a:pPr algn="ctr" indent="0" marL="0">
              <a:buNone/>
            </a:pPr>
            <a:r>
              <a:rPr lang="en-US" sz="1000" dirty="0">
                <a:solidFill>
                  <a:srgbClr val="7A8090"/>
                </a:solidFill>
                <a:latin typeface="Calibri" pitchFamily="34" charset="0"/>
                <a:ea typeface="Calibri" pitchFamily="34" charset="-122"/>
                <a:cs typeface="Calibri" pitchFamily="34" charset="-120"/>
              </a:rPr>
              <a:t>más veces</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compartido vs.</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contenido estático</a:t>
            </a:r>
            <a:endParaRPr lang="en-US" sz="1000" dirty="0"/>
          </a:p>
        </p:txBody>
      </p:sp>
      <p:sp>
        <p:nvSpPr>
          <p:cNvPr id="18" name="Shape 16"/>
          <p:cNvSpPr/>
          <p:nvPr/>
        </p:nvSpPr>
        <p:spPr>
          <a:xfrm>
            <a:off x="6894576" y="2788920"/>
            <a:ext cx="1965960" cy="2011680"/>
          </a:xfrm>
          <a:prstGeom prst="rect">
            <a:avLst/>
          </a:prstGeom>
          <a:solidFill>
            <a:srgbClr val="181A1C"/>
          </a:solidFill>
          <a:ln w="12700">
            <a:solidFill>
              <a:srgbClr val="2A2D32"/>
            </a:solidFill>
            <a:prstDash val="solid"/>
          </a:ln>
        </p:spPr>
      </p:sp>
      <p:sp>
        <p:nvSpPr>
          <p:cNvPr id="19" name="Shape 17"/>
          <p:cNvSpPr/>
          <p:nvPr/>
        </p:nvSpPr>
        <p:spPr>
          <a:xfrm>
            <a:off x="6894576" y="2788920"/>
            <a:ext cx="1965960" cy="54864"/>
          </a:xfrm>
          <a:prstGeom prst="rect">
            <a:avLst/>
          </a:prstGeom>
          <a:solidFill>
            <a:srgbClr val="E8002D"/>
          </a:solidFill>
          <a:ln w="12700">
            <a:solidFill>
              <a:srgbClr val="E8002D"/>
            </a:solidFill>
            <a:prstDash val="solid"/>
          </a:ln>
        </p:spPr>
      </p:sp>
      <p:sp>
        <p:nvSpPr>
          <p:cNvPr id="20" name="Text 18"/>
          <p:cNvSpPr/>
          <p:nvPr/>
        </p:nvSpPr>
        <p:spPr>
          <a:xfrm>
            <a:off x="6894576" y="2907792"/>
            <a:ext cx="1965960" cy="685800"/>
          </a:xfrm>
          <a:prstGeom prst="rect">
            <a:avLst/>
          </a:prstGeom>
          <a:noFill/>
          <a:ln/>
        </p:spPr>
        <p:txBody>
          <a:bodyPr wrap="square" lIns="0" tIns="0" rIns="0" bIns="0" rtlCol="0" anchor="ctr"/>
          <a:lstStyle/>
          <a:p>
            <a:pPr algn="ctr" indent="0" marL="0">
              <a:buNone/>
            </a:pPr>
            <a:r>
              <a:rPr lang="en-US" sz="3000" b="1" dirty="0">
                <a:solidFill>
                  <a:srgbClr val="E8002D"/>
                </a:solidFill>
                <a:latin typeface="Arial Black" pitchFamily="34" charset="0"/>
                <a:ea typeface="Arial Black" pitchFamily="34" charset="-122"/>
                <a:cs typeface="Arial Black" pitchFamily="34" charset="-120"/>
              </a:rPr>
              <a:t>20min</a:t>
            </a:r>
            <a:endParaRPr lang="en-US" sz="3000" dirty="0"/>
          </a:p>
        </p:txBody>
      </p:sp>
      <p:sp>
        <p:nvSpPr>
          <p:cNvPr id="21" name="Text 19"/>
          <p:cNvSpPr/>
          <p:nvPr/>
        </p:nvSpPr>
        <p:spPr>
          <a:xfrm>
            <a:off x="6894576" y="3639312"/>
            <a:ext cx="1965960" cy="1005840"/>
          </a:xfrm>
          <a:prstGeom prst="rect">
            <a:avLst/>
          </a:prstGeom>
          <a:noFill/>
          <a:ln/>
        </p:spPr>
        <p:txBody>
          <a:bodyPr wrap="square" lIns="0" tIns="0" rIns="0" bIns="0" rtlCol="0" anchor="ctr"/>
          <a:lstStyle/>
          <a:p>
            <a:pPr algn="ctr" indent="0" marL="0">
              <a:buNone/>
            </a:pPr>
            <a:r>
              <a:rPr lang="en-US" sz="1000" dirty="0">
                <a:solidFill>
                  <a:srgbClr val="7A8090"/>
                </a:solidFill>
                <a:latin typeface="Calibri" pitchFamily="34" charset="0"/>
                <a:ea typeface="Calibri" pitchFamily="34" charset="-122"/>
                <a:cs typeface="Calibri" pitchFamily="34" charset="-120"/>
              </a:rPr>
              <a:t>engagement</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promedio en</a:t>
            </a:r>
            <a:endParaRPr lang="en-US" sz="1000" dirty="0"/>
          </a:p>
          <a:p>
            <a:pPr algn="ctr" indent="0" marL="0">
              <a:buNone/>
            </a:pPr>
            <a:r>
              <a:rPr lang="en-US" sz="1000" dirty="0">
                <a:solidFill>
                  <a:srgbClr val="7A8090"/>
                </a:solidFill>
                <a:latin typeface="Calibri" pitchFamily="34" charset="0"/>
                <a:ea typeface="Calibri" pitchFamily="34" charset="-122"/>
                <a:cs typeface="Calibri" pitchFamily="34" charset="-120"/>
              </a:rPr>
              <a:t>juegos de marca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BEB"/>
          </a:solidFill>
          <a:ln w="12700">
            <a:solidFill>
              <a:srgbClr val="3B8BEB"/>
            </a:solidFill>
            <a:prstDash val="solid"/>
          </a:ln>
        </p:spPr>
      </p:sp>
      <p:sp>
        <p:nvSpPr>
          <p:cNvPr id="3" name="Text 1"/>
          <p:cNvSpPr/>
          <p:nvPr/>
        </p:nvSpPr>
        <p:spPr>
          <a:xfrm>
            <a:off x="320040" y="256032"/>
            <a:ext cx="8229600" cy="347472"/>
          </a:xfrm>
          <a:prstGeom prst="rect">
            <a:avLst/>
          </a:prstGeom>
          <a:noFill/>
          <a:ln/>
        </p:spPr>
        <p:txBody>
          <a:bodyPr wrap="square" lIns="0" tIns="0" rIns="0" bIns="0" rtlCol="0" anchor="ctr"/>
          <a:lstStyle/>
          <a:p>
            <a:pPr indent="0" marL="0">
              <a:buNone/>
            </a:pPr>
            <a:r>
              <a:rPr lang="en-US" sz="1000" spc="300" kern="0" dirty="0">
                <a:solidFill>
                  <a:srgbClr val="3B8BEB"/>
                </a:solidFill>
                <a:latin typeface="Arial Black" pitchFamily="34" charset="0"/>
                <a:ea typeface="Arial Black" pitchFamily="34" charset="-122"/>
                <a:cs typeface="Arial Black" pitchFamily="34" charset="-120"/>
              </a:rPr>
              <a:t>04 · EL PORTAFOLIO DE JUEGOS</a:t>
            </a:r>
            <a:endParaRPr lang="en-US" sz="1000" dirty="0"/>
          </a:p>
        </p:txBody>
      </p:sp>
      <p:sp>
        <p:nvSpPr>
          <p:cNvPr id="4" name="Text 2"/>
          <p:cNvSpPr/>
          <p:nvPr/>
        </p:nvSpPr>
        <p:spPr>
          <a:xfrm>
            <a:off x="320040" y="658368"/>
            <a:ext cx="8229600" cy="502920"/>
          </a:xfrm>
          <a:prstGeom prst="rect">
            <a:avLst/>
          </a:prstGeom>
          <a:noFill/>
          <a:ln/>
        </p:spPr>
        <p:txBody>
          <a:bodyPr wrap="square" lIns="0" tIns="0" rIns="0" bIns="0"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6 experiencias. 1 ecosistema.</a:t>
            </a:r>
            <a:endParaRPr lang="en-US" sz="2800" dirty="0"/>
          </a:p>
        </p:txBody>
      </p:sp>
      <p:sp>
        <p:nvSpPr>
          <p:cNvPr id="5" name="Shape 3"/>
          <p:cNvSpPr/>
          <p:nvPr/>
        </p:nvSpPr>
        <p:spPr>
          <a:xfrm>
            <a:off x="320040" y="1325880"/>
            <a:ext cx="2743200" cy="1572768"/>
          </a:xfrm>
          <a:prstGeom prst="rect">
            <a:avLst/>
          </a:prstGeom>
          <a:solidFill>
            <a:srgbClr val="1E2124"/>
          </a:solidFill>
          <a:ln w="12700">
            <a:solidFill>
              <a:srgbClr val="2A2D32"/>
            </a:solidFill>
            <a:prstDash val="solid"/>
          </a:ln>
        </p:spPr>
      </p:sp>
      <p:sp>
        <p:nvSpPr>
          <p:cNvPr id="6" name="Shape 4"/>
          <p:cNvSpPr/>
          <p:nvPr/>
        </p:nvSpPr>
        <p:spPr>
          <a:xfrm>
            <a:off x="320040" y="1325880"/>
            <a:ext cx="2743200" cy="45720"/>
          </a:xfrm>
          <a:prstGeom prst="rect">
            <a:avLst/>
          </a:prstGeom>
          <a:solidFill>
            <a:srgbClr val="E8002D"/>
          </a:solidFill>
          <a:ln w="12700">
            <a:solidFill>
              <a:srgbClr val="E8002D"/>
            </a:solidFill>
            <a:prstDash val="solid"/>
          </a:ln>
        </p:spPr>
      </p:sp>
      <p:sp>
        <p:nvSpPr>
          <p:cNvPr id="7" name="Text 5"/>
          <p:cNvSpPr/>
          <p:nvPr/>
        </p:nvSpPr>
        <p:spPr>
          <a:xfrm>
            <a:off x="429768" y="1417320"/>
            <a:ext cx="2523744" cy="256032"/>
          </a:xfrm>
          <a:prstGeom prst="rect">
            <a:avLst/>
          </a:prstGeom>
          <a:noFill/>
          <a:ln/>
        </p:spPr>
        <p:txBody>
          <a:bodyPr wrap="square" lIns="0" tIns="0" rIns="0" bIns="0" rtlCol="0" anchor="ctr"/>
          <a:lstStyle/>
          <a:p>
            <a:pPr indent="0" marL="0">
              <a:buNone/>
            </a:pPr>
            <a:r>
              <a:rPr lang="en-US" sz="800" spc="150" kern="0" dirty="0">
                <a:solidFill>
                  <a:srgbClr val="E8002D"/>
                </a:solidFill>
                <a:latin typeface="Calibri" pitchFamily="34" charset="0"/>
                <a:ea typeface="Calibri" pitchFamily="34" charset="-122"/>
                <a:cs typeface="Calibri" pitchFamily="34" charset="-120"/>
              </a:rPr>
              <a:t>🏢  PRINCIPAL</a:t>
            </a:r>
            <a:endParaRPr lang="en-US" sz="800" dirty="0"/>
          </a:p>
        </p:txBody>
      </p:sp>
      <p:sp>
        <p:nvSpPr>
          <p:cNvPr id="8" name="Text 6"/>
          <p:cNvSpPr/>
          <p:nvPr/>
        </p:nvSpPr>
        <p:spPr>
          <a:xfrm>
            <a:off x="429768" y="1673352"/>
            <a:ext cx="2523744"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Concesionaria Virtual</a:t>
            </a:r>
            <a:endParaRPr lang="en-US" sz="1300" dirty="0"/>
          </a:p>
        </p:txBody>
      </p:sp>
      <p:sp>
        <p:nvSpPr>
          <p:cNvPr id="9" name="Text 7"/>
          <p:cNvSpPr/>
          <p:nvPr/>
        </p:nvSpPr>
        <p:spPr>
          <a:xfrm>
            <a:off x="429768" y="2057400"/>
            <a:ext cx="2523744" cy="749808"/>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Simulador de negocio con autos reales del catálogo. Compra, repara y vende.</a:t>
            </a:r>
            <a:endParaRPr lang="en-US" sz="1000" dirty="0"/>
          </a:p>
        </p:txBody>
      </p:sp>
      <p:sp>
        <p:nvSpPr>
          <p:cNvPr id="10" name="Shape 8"/>
          <p:cNvSpPr/>
          <p:nvPr/>
        </p:nvSpPr>
        <p:spPr>
          <a:xfrm>
            <a:off x="3264408" y="1325880"/>
            <a:ext cx="2743200" cy="1572768"/>
          </a:xfrm>
          <a:prstGeom prst="rect">
            <a:avLst/>
          </a:prstGeom>
          <a:solidFill>
            <a:srgbClr val="1E2124"/>
          </a:solidFill>
          <a:ln w="12700">
            <a:solidFill>
              <a:srgbClr val="2A2D32"/>
            </a:solidFill>
            <a:prstDash val="solid"/>
          </a:ln>
        </p:spPr>
      </p:sp>
      <p:sp>
        <p:nvSpPr>
          <p:cNvPr id="11" name="Shape 9"/>
          <p:cNvSpPr/>
          <p:nvPr/>
        </p:nvSpPr>
        <p:spPr>
          <a:xfrm>
            <a:off x="3264408" y="1325880"/>
            <a:ext cx="2743200" cy="45720"/>
          </a:xfrm>
          <a:prstGeom prst="rect">
            <a:avLst/>
          </a:prstGeom>
          <a:solidFill>
            <a:srgbClr val="3B8BEB"/>
          </a:solidFill>
          <a:ln w="12700">
            <a:solidFill>
              <a:srgbClr val="3B8BEB"/>
            </a:solidFill>
            <a:prstDash val="solid"/>
          </a:ln>
        </p:spPr>
      </p:sp>
      <p:sp>
        <p:nvSpPr>
          <p:cNvPr id="12" name="Text 10"/>
          <p:cNvSpPr/>
          <p:nvPr/>
        </p:nvSpPr>
        <p:spPr>
          <a:xfrm>
            <a:off x="3374136" y="1417320"/>
            <a:ext cx="2523744" cy="256032"/>
          </a:xfrm>
          <a:prstGeom prst="rect">
            <a:avLst/>
          </a:prstGeom>
          <a:noFill/>
          <a:ln/>
        </p:spPr>
        <p:txBody>
          <a:bodyPr wrap="square" lIns="0" tIns="0" rIns="0" bIns="0" rtlCol="0" anchor="ctr"/>
          <a:lstStyle/>
          <a:p>
            <a:pPr indent="0" marL="0">
              <a:buNone/>
            </a:pPr>
            <a:r>
              <a:rPr lang="en-US" sz="800" spc="150" kern="0" dirty="0">
                <a:solidFill>
                  <a:srgbClr val="3B8BEB"/>
                </a:solidFill>
                <a:latin typeface="Calibri" pitchFamily="34" charset="0"/>
                <a:ea typeface="Calibri" pitchFamily="34" charset="-122"/>
                <a:cs typeface="Calibri" pitchFamily="34" charset="-120"/>
              </a:rPr>
              <a:t>🏎️  MINIJUEGO</a:t>
            </a:r>
            <a:endParaRPr lang="en-US" sz="800" dirty="0"/>
          </a:p>
        </p:txBody>
      </p:sp>
      <p:sp>
        <p:nvSpPr>
          <p:cNvPr id="13" name="Text 11"/>
          <p:cNvSpPr/>
          <p:nvPr/>
        </p:nvSpPr>
        <p:spPr>
          <a:xfrm>
            <a:off x="3374136" y="1673352"/>
            <a:ext cx="2523744"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ChileKart Racers</a:t>
            </a:r>
            <a:endParaRPr lang="en-US" sz="1300" dirty="0"/>
          </a:p>
        </p:txBody>
      </p:sp>
      <p:sp>
        <p:nvSpPr>
          <p:cNvPr id="14" name="Text 12"/>
          <p:cNvSpPr/>
          <p:nvPr/>
        </p:nvSpPr>
        <p:spPr>
          <a:xfrm>
            <a:off x="3374136" y="2057400"/>
            <a:ext cx="2523744" cy="749808"/>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Carreras estilo Mario Kart con los modelos más buscados: Hilux, RAV4, Swift.</a:t>
            </a:r>
            <a:endParaRPr lang="en-US" sz="1000" dirty="0"/>
          </a:p>
        </p:txBody>
      </p:sp>
      <p:sp>
        <p:nvSpPr>
          <p:cNvPr id="15" name="Shape 13"/>
          <p:cNvSpPr/>
          <p:nvPr/>
        </p:nvSpPr>
        <p:spPr>
          <a:xfrm>
            <a:off x="6208776" y="1325880"/>
            <a:ext cx="2743200" cy="1572768"/>
          </a:xfrm>
          <a:prstGeom prst="rect">
            <a:avLst/>
          </a:prstGeom>
          <a:solidFill>
            <a:srgbClr val="1E2124"/>
          </a:solidFill>
          <a:ln w="12700">
            <a:solidFill>
              <a:srgbClr val="2A2D32"/>
            </a:solidFill>
            <a:prstDash val="solid"/>
          </a:ln>
        </p:spPr>
      </p:sp>
      <p:sp>
        <p:nvSpPr>
          <p:cNvPr id="16" name="Shape 14"/>
          <p:cNvSpPr/>
          <p:nvPr/>
        </p:nvSpPr>
        <p:spPr>
          <a:xfrm>
            <a:off x="6208776" y="1325880"/>
            <a:ext cx="2743200" cy="45720"/>
          </a:xfrm>
          <a:prstGeom prst="rect">
            <a:avLst/>
          </a:prstGeom>
          <a:solidFill>
            <a:srgbClr val="00C896"/>
          </a:solidFill>
          <a:ln w="12700">
            <a:solidFill>
              <a:srgbClr val="00C896"/>
            </a:solidFill>
            <a:prstDash val="solid"/>
          </a:ln>
        </p:spPr>
      </p:sp>
      <p:sp>
        <p:nvSpPr>
          <p:cNvPr id="17" name="Text 15"/>
          <p:cNvSpPr/>
          <p:nvPr/>
        </p:nvSpPr>
        <p:spPr>
          <a:xfrm>
            <a:off x="6318504" y="1417320"/>
            <a:ext cx="2523744" cy="256032"/>
          </a:xfrm>
          <a:prstGeom prst="rect">
            <a:avLst/>
          </a:prstGeom>
          <a:noFill/>
          <a:ln/>
        </p:spPr>
        <p:txBody>
          <a:bodyPr wrap="square" lIns="0" tIns="0" rIns="0" bIns="0" rtlCol="0" anchor="ctr"/>
          <a:lstStyle/>
          <a:p>
            <a:pPr indent="0" marL="0">
              <a:buNone/>
            </a:pPr>
            <a:r>
              <a:rPr lang="en-US" sz="800" spc="150" kern="0" dirty="0">
                <a:solidFill>
                  <a:srgbClr val="00C896"/>
                </a:solidFill>
                <a:latin typeface="Calibri" pitchFamily="34" charset="0"/>
                <a:ea typeface="Calibri" pitchFamily="34" charset="-122"/>
                <a:cs typeface="Calibri" pitchFamily="34" charset="-120"/>
              </a:rPr>
              <a:t>🔧  SIMULADOR</a:t>
            </a:r>
            <a:endParaRPr lang="en-US" sz="800" dirty="0"/>
          </a:p>
        </p:txBody>
      </p:sp>
      <p:sp>
        <p:nvSpPr>
          <p:cNvPr id="18" name="Text 16"/>
          <p:cNvSpPr/>
          <p:nvPr/>
        </p:nvSpPr>
        <p:spPr>
          <a:xfrm>
            <a:off x="6318504" y="1673352"/>
            <a:ext cx="2523744"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Mecánico Pro</a:t>
            </a:r>
            <a:endParaRPr lang="en-US" sz="1300" dirty="0"/>
          </a:p>
        </p:txBody>
      </p:sp>
      <p:sp>
        <p:nvSpPr>
          <p:cNvPr id="19" name="Text 17"/>
          <p:cNvSpPr/>
          <p:nvPr/>
        </p:nvSpPr>
        <p:spPr>
          <a:xfrm>
            <a:off x="6318504" y="2057400"/>
            <a:ext cx="2523744" cy="749808"/>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Diagnostica fallas reales y repara autos para venderlos. Educa al comprador.</a:t>
            </a:r>
            <a:endParaRPr lang="en-US" sz="1000" dirty="0"/>
          </a:p>
        </p:txBody>
      </p:sp>
      <p:sp>
        <p:nvSpPr>
          <p:cNvPr id="20" name="Shape 18"/>
          <p:cNvSpPr/>
          <p:nvPr/>
        </p:nvSpPr>
        <p:spPr>
          <a:xfrm>
            <a:off x="320040" y="3154680"/>
            <a:ext cx="2743200" cy="1572768"/>
          </a:xfrm>
          <a:prstGeom prst="rect">
            <a:avLst/>
          </a:prstGeom>
          <a:solidFill>
            <a:srgbClr val="1E2124"/>
          </a:solidFill>
          <a:ln w="12700">
            <a:solidFill>
              <a:srgbClr val="2A2D32"/>
            </a:solidFill>
            <a:prstDash val="solid"/>
          </a:ln>
        </p:spPr>
      </p:sp>
      <p:sp>
        <p:nvSpPr>
          <p:cNvPr id="21" name="Shape 19"/>
          <p:cNvSpPr/>
          <p:nvPr/>
        </p:nvSpPr>
        <p:spPr>
          <a:xfrm>
            <a:off x="320040" y="3154680"/>
            <a:ext cx="2743200" cy="45720"/>
          </a:xfrm>
          <a:prstGeom prst="rect">
            <a:avLst/>
          </a:prstGeom>
          <a:solidFill>
            <a:srgbClr val="FFD60A"/>
          </a:solidFill>
          <a:ln w="12700">
            <a:solidFill>
              <a:srgbClr val="FFD60A"/>
            </a:solidFill>
            <a:prstDash val="solid"/>
          </a:ln>
        </p:spPr>
      </p:sp>
      <p:sp>
        <p:nvSpPr>
          <p:cNvPr id="22" name="Text 20"/>
          <p:cNvSpPr/>
          <p:nvPr/>
        </p:nvSpPr>
        <p:spPr>
          <a:xfrm>
            <a:off x="429768" y="3246120"/>
            <a:ext cx="2523744" cy="256032"/>
          </a:xfrm>
          <a:prstGeom prst="rect">
            <a:avLst/>
          </a:prstGeom>
          <a:noFill/>
          <a:ln/>
        </p:spPr>
        <p:txBody>
          <a:bodyPr wrap="square" lIns="0" tIns="0" rIns="0" bIns="0" rtlCol="0" anchor="ctr"/>
          <a:lstStyle/>
          <a:p>
            <a:pPr indent="0" marL="0">
              <a:buNone/>
            </a:pPr>
            <a:r>
              <a:rPr lang="en-US" sz="800" spc="150" kern="0" dirty="0">
                <a:solidFill>
                  <a:srgbClr val="FFD60A"/>
                </a:solidFill>
                <a:latin typeface="Calibri" pitchFamily="34" charset="0"/>
                <a:ea typeface="Calibri" pitchFamily="34" charset="-122"/>
                <a:cs typeface="Calibri" pitchFamily="34" charset="-120"/>
              </a:rPr>
              <a:t>💰  TRIVIA</a:t>
            </a:r>
            <a:endParaRPr lang="en-US" sz="800" dirty="0"/>
          </a:p>
        </p:txBody>
      </p:sp>
      <p:sp>
        <p:nvSpPr>
          <p:cNvPr id="23" name="Text 21"/>
          <p:cNvSpPr/>
          <p:nvPr/>
        </p:nvSpPr>
        <p:spPr>
          <a:xfrm>
            <a:off x="429768" y="3502152"/>
            <a:ext cx="2523744"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¿Cuánto Vale?</a:t>
            </a:r>
            <a:endParaRPr lang="en-US" sz="1300" dirty="0"/>
          </a:p>
        </p:txBody>
      </p:sp>
      <p:sp>
        <p:nvSpPr>
          <p:cNvPr id="24" name="Text 22"/>
          <p:cNvSpPr/>
          <p:nvPr/>
        </p:nvSpPr>
        <p:spPr>
          <a:xfrm>
            <a:off x="429768" y="3886200"/>
            <a:ext cx="2523744" cy="749808"/>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Adivina el precio real de autos del marketplace. Premia al más conocedor.</a:t>
            </a:r>
            <a:endParaRPr lang="en-US" sz="1000" dirty="0"/>
          </a:p>
        </p:txBody>
      </p:sp>
      <p:sp>
        <p:nvSpPr>
          <p:cNvPr id="25" name="Shape 23"/>
          <p:cNvSpPr/>
          <p:nvPr/>
        </p:nvSpPr>
        <p:spPr>
          <a:xfrm>
            <a:off x="3264408" y="3154680"/>
            <a:ext cx="2743200" cy="1572768"/>
          </a:xfrm>
          <a:prstGeom prst="rect">
            <a:avLst/>
          </a:prstGeom>
          <a:solidFill>
            <a:srgbClr val="1E2124"/>
          </a:solidFill>
          <a:ln w="12700">
            <a:solidFill>
              <a:srgbClr val="2A2D32"/>
            </a:solidFill>
            <a:prstDash val="solid"/>
          </a:ln>
        </p:spPr>
      </p:sp>
      <p:sp>
        <p:nvSpPr>
          <p:cNvPr id="26" name="Shape 24"/>
          <p:cNvSpPr/>
          <p:nvPr/>
        </p:nvSpPr>
        <p:spPr>
          <a:xfrm>
            <a:off x="3264408" y="3154680"/>
            <a:ext cx="2743200" cy="45720"/>
          </a:xfrm>
          <a:prstGeom prst="rect">
            <a:avLst/>
          </a:prstGeom>
          <a:solidFill>
            <a:srgbClr val="FF6B35"/>
          </a:solidFill>
          <a:ln w="12700">
            <a:solidFill>
              <a:srgbClr val="FF6B35"/>
            </a:solidFill>
            <a:prstDash val="solid"/>
          </a:ln>
        </p:spPr>
      </p:sp>
      <p:sp>
        <p:nvSpPr>
          <p:cNvPr id="27" name="Text 25"/>
          <p:cNvSpPr/>
          <p:nvPr/>
        </p:nvSpPr>
        <p:spPr>
          <a:xfrm>
            <a:off x="3374136" y="3246120"/>
            <a:ext cx="2523744" cy="256032"/>
          </a:xfrm>
          <a:prstGeom prst="rect">
            <a:avLst/>
          </a:prstGeom>
          <a:noFill/>
          <a:ln/>
        </p:spPr>
        <p:txBody>
          <a:bodyPr wrap="square" lIns="0" tIns="0" rIns="0" bIns="0" rtlCol="0" anchor="ctr"/>
          <a:lstStyle/>
          <a:p>
            <a:pPr indent="0" marL="0">
              <a:buNone/>
            </a:pPr>
            <a:r>
              <a:rPr lang="en-US" sz="800" spc="150" kern="0" dirty="0">
                <a:solidFill>
                  <a:srgbClr val="FF6B35"/>
                </a:solidFill>
                <a:latin typeface="Calibri" pitchFamily="34" charset="0"/>
                <a:ea typeface="Calibri" pitchFamily="34" charset="-122"/>
                <a:cs typeface="Calibri" pitchFamily="34" charset="-120"/>
              </a:rPr>
              <a:t>📋  VIRAL</a:t>
            </a:r>
            <a:endParaRPr lang="en-US" sz="800" dirty="0"/>
          </a:p>
        </p:txBody>
      </p:sp>
      <p:sp>
        <p:nvSpPr>
          <p:cNvPr id="28" name="Text 26"/>
          <p:cNvSpPr/>
          <p:nvPr/>
        </p:nvSpPr>
        <p:spPr>
          <a:xfrm>
            <a:off x="3374136" y="3502152"/>
            <a:ext cx="2523744"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Test Drive Quiz</a:t>
            </a:r>
            <a:endParaRPr lang="en-US" sz="1300" dirty="0"/>
          </a:p>
        </p:txBody>
      </p:sp>
      <p:sp>
        <p:nvSpPr>
          <p:cNvPr id="29" name="Text 27"/>
          <p:cNvSpPr/>
          <p:nvPr/>
        </p:nvSpPr>
        <p:spPr>
          <a:xfrm>
            <a:off x="3374136" y="3886200"/>
            <a:ext cx="2523744" cy="749808"/>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Quiz de estilo de vida que termina en recomendaciones reales del sitio.</a:t>
            </a:r>
            <a:endParaRPr lang="en-US" sz="1000" dirty="0"/>
          </a:p>
        </p:txBody>
      </p:sp>
      <p:sp>
        <p:nvSpPr>
          <p:cNvPr id="30" name="Shape 28"/>
          <p:cNvSpPr/>
          <p:nvPr/>
        </p:nvSpPr>
        <p:spPr>
          <a:xfrm>
            <a:off x="6208776" y="3154680"/>
            <a:ext cx="2743200" cy="1572768"/>
          </a:xfrm>
          <a:prstGeom prst="rect">
            <a:avLst/>
          </a:prstGeom>
          <a:solidFill>
            <a:srgbClr val="1E2124"/>
          </a:solidFill>
          <a:ln w="12700">
            <a:solidFill>
              <a:srgbClr val="2A2D32"/>
            </a:solidFill>
            <a:prstDash val="solid"/>
          </a:ln>
        </p:spPr>
      </p:sp>
      <p:sp>
        <p:nvSpPr>
          <p:cNvPr id="31" name="Shape 29"/>
          <p:cNvSpPr/>
          <p:nvPr/>
        </p:nvSpPr>
        <p:spPr>
          <a:xfrm>
            <a:off x="6208776" y="3154680"/>
            <a:ext cx="2743200" cy="45720"/>
          </a:xfrm>
          <a:prstGeom prst="rect">
            <a:avLst/>
          </a:prstGeom>
          <a:solidFill>
            <a:srgbClr val="3B8BEB"/>
          </a:solidFill>
          <a:ln w="12700">
            <a:solidFill>
              <a:srgbClr val="3B8BEB"/>
            </a:solidFill>
            <a:prstDash val="solid"/>
          </a:ln>
        </p:spPr>
      </p:sp>
      <p:sp>
        <p:nvSpPr>
          <p:cNvPr id="32" name="Text 30"/>
          <p:cNvSpPr/>
          <p:nvPr/>
        </p:nvSpPr>
        <p:spPr>
          <a:xfrm>
            <a:off x="6318504" y="3246120"/>
            <a:ext cx="2523744" cy="256032"/>
          </a:xfrm>
          <a:prstGeom prst="rect">
            <a:avLst/>
          </a:prstGeom>
          <a:noFill/>
          <a:ln/>
        </p:spPr>
        <p:txBody>
          <a:bodyPr wrap="square" lIns="0" tIns="0" rIns="0" bIns="0" rtlCol="0" anchor="ctr"/>
          <a:lstStyle/>
          <a:p>
            <a:pPr indent="0" marL="0">
              <a:buNone/>
            </a:pPr>
            <a:r>
              <a:rPr lang="en-US" sz="800" spc="150" kern="0" dirty="0">
                <a:solidFill>
                  <a:srgbClr val="3B8BEB"/>
                </a:solidFill>
                <a:latin typeface="Calibri" pitchFamily="34" charset="0"/>
                <a:ea typeface="Calibri" pitchFamily="34" charset="-122"/>
                <a:cs typeface="Calibri" pitchFamily="34" charset="-120"/>
              </a:rPr>
              <a:t>🃏  COLECCIÓN</a:t>
            </a:r>
            <a:endParaRPr lang="en-US" sz="800" dirty="0"/>
          </a:p>
        </p:txBody>
      </p:sp>
      <p:sp>
        <p:nvSpPr>
          <p:cNvPr id="33" name="Text 31"/>
          <p:cNvSpPr/>
          <p:nvPr/>
        </p:nvSpPr>
        <p:spPr>
          <a:xfrm>
            <a:off x="6318504" y="3502152"/>
            <a:ext cx="2523744" cy="347472"/>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Álbum del Motorista</a:t>
            </a:r>
            <a:endParaRPr lang="en-US" sz="1300" dirty="0"/>
          </a:p>
        </p:txBody>
      </p:sp>
      <p:sp>
        <p:nvSpPr>
          <p:cNvPr id="34" name="Text 32"/>
          <p:cNvSpPr/>
          <p:nvPr/>
        </p:nvSpPr>
        <p:spPr>
          <a:xfrm>
            <a:off x="6318504" y="3886200"/>
            <a:ext cx="2523744" cy="749808"/>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Figuritas digitales de autos chilenos. Intercambia con otros usuarios.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C896"/>
          </a:solidFill>
          <a:ln w="12700">
            <a:solidFill>
              <a:srgbClr val="00C896"/>
            </a:solidFill>
            <a:prstDash val="solid"/>
          </a:ln>
        </p:spPr>
      </p:sp>
      <p:sp>
        <p:nvSpPr>
          <p:cNvPr id="3" name="Text 1"/>
          <p:cNvSpPr/>
          <p:nvPr/>
        </p:nvSpPr>
        <p:spPr>
          <a:xfrm>
            <a:off x="320040" y="256032"/>
            <a:ext cx="8229600" cy="347472"/>
          </a:xfrm>
          <a:prstGeom prst="rect">
            <a:avLst/>
          </a:prstGeom>
          <a:noFill/>
          <a:ln/>
        </p:spPr>
        <p:txBody>
          <a:bodyPr wrap="square" lIns="0" tIns="0" rIns="0" bIns="0" rtlCol="0" anchor="ctr"/>
          <a:lstStyle/>
          <a:p>
            <a:pPr indent="0" marL="0">
              <a:buNone/>
            </a:pPr>
            <a:r>
              <a:rPr lang="en-US" sz="1000" spc="300" kern="0" dirty="0">
                <a:solidFill>
                  <a:srgbClr val="00C896"/>
                </a:solidFill>
                <a:latin typeface="Arial Black" pitchFamily="34" charset="0"/>
                <a:ea typeface="Arial Black" pitchFamily="34" charset="-122"/>
                <a:cs typeface="Arial Black" pitchFamily="34" charset="-120"/>
              </a:rPr>
              <a:t>05 · IMPACTO PROYECTADO EN KPIs</a:t>
            </a:r>
            <a:endParaRPr lang="en-US" sz="1000" dirty="0"/>
          </a:p>
        </p:txBody>
      </p:sp>
      <p:sp>
        <p:nvSpPr>
          <p:cNvPr id="4" name="Text 2"/>
          <p:cNvSpPr/>
          <p:nvPr/>
        </p:nvSpPr>
        <p:spPr>
          <a:xfrm>
            <a:off x="320040" y="658368"/>
            <a:ext cx="8229600" cy="411480"/>
          </a:xfrm>
          <a:prstGeom prst="rect">
            <a:avLst/>
          </a:prstGeom>
          <a:noFill/>
          <a:ln/>
        </p:spPr>
        <p:txBody>
          <a:bodyPr wrap="square" lIns="0" tIns="0" rIns="0" bIns="0"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Números respaldados por benchmarks globales</a:t>
            </a:r>
            <a:endParaRPr lang="en-US" sz="2000" dirty="0"/>
          </a:p>
        </p:txBody>
      </p:sp>
      <p:graphicFrame>
        <p:nvGraphicFramePr>
          <p:cNvPr id="5" name="Chart 0" descr=""/>
          <p:cNvGraphicFramePr/>
          <p:nvPr/>
        </p:nvGraphicFramePr>
        <p:xfrm>
          <a:off x="320040" y="1234440"/>
          <a:ext cx="530352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943600" y="1280160"/>
            <a:ext cx="2880360" cy="1097280"/>
          </a:xfrm>
          <a:prstGeom prst="rect">
            <a:avLst/>
          </a:prstGeom>
          <a:solidFill>
            <a:srgbClr val="181A1C"/>
          </a:solidFill>
          <a:ln w="12700">
            <a:solidFill>
              <a:srgbClr val="2A2D32"/>
            </a:solidFill>
            <a:prstDash val="solid"/>
          </a:ln>
        </p:spPr>
      </p:sp>
      <p:sp>
        <p:nvSpPr>
          <p:cNvPr id="7" name="Shape 4"/>
          <p:cNvSpPr/>
          <p:nvPr/>
        </p:nvSpPr>
        <p:spPr>
          <a:xfrm>
            <a:off x="5943600" y="1280160"/>
            <a:ext cx="64008" cy="1097280"/>
          </a:xfrm>
          <a:prstGeom prst="rect">
            <a:avLst/>
          </a:prstGeom>
          <a:solidFill>
            <a:srgbClr val="3B8BEB"/>
          </a:solidFill>
          <a:ln w="12700">
            <a:solidFill>
              <a:srgbClr val="3B8BEB"/>
            </a:solidFill>
            <a:prstDash val="solid"/>
          </a:ln>
        </p:spPr>
      </p:sp>
      <p:sp>
        <p:nvSpPr>
          <p:cNvPr id="8" name="Text 5"/>
          <p:cNvSpPr/>
          <p:nvPr/>
        </p:nvSpPr>
        <p:spPr>
          <a:xfrm>
            <a:off x="6126480" y="1371600"/>
            <a:ext cx="2606040" cy="475488"/>
          </a:xfrm>
          <a:prstGeom prst="rect">
            <a:avLst/>
          </a:prstGeom>
          <a:noFill/>
          <a:ln/>
        </p:spPr>
        <p:txBody>
          <a:bodyPr wrap="square" lIns="0" tIns="0" rIns="0" bIns="0" rtlCol="0" anchor="ctr"/>
          <a:lstStyle/>
          <a:p>
            <a:pPr indent="0" marL="0">
              <a:buNone/>
            </a:pPr>
            <a:r>
              <a:rPr lang="en-US" sz="2800" b="1" dirty="0">
                <a:solidFill>
                  <a:srgbClr val="3B8BEB"/>
                </a:solidFill>
                <a:latin typeface="Arial Black" pitchFamily="34" charset="0"/>
                <a:ea typeface="Arial Black" pitchFamily="34" charset="-122"/>
                <a:cs typeface="Arial Black" pitchFamily="34" charset="-120"/>
              </a:rPr>
              <a:t>3.89M</a:t>
            </a:r>
            <a:endParaRPr lang="en-US" sz="2800" dirty="0"/>
          </a:p>
        </p:txBody>
      </p:sp>
      <p:sp>
        <p:nvSpPr>
          <p:cNvPr id="9" name="Text 6"/>
          <p:cNvSpPr/>
          <p:nvPr/>
        </p:nvSpPr>
        <p:spPr>
          <a:xfrm>
            <a:off x="6126480" y="1847088"/>
            <a:ext cx="2606040" cy="4572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visitas/mes actuales</a:t>
            </a:r>
            <a:endParaRPr lang="en-US" sz="1000" dirty="0"/>
          </a:p>
          <a:p>
            <a:pPr indent="0" marL="0">
              <a:buNone/>
            </a:pPr>
            <a:r>
              <a:rPr lang="en-US" sz="1000" dirty="0">
                <a:solidFill>
                  <a:srgbClr val="7A8090"/>
                </a:solidFill>
                <a:latin typeface="Calibri" pitchFamily="34" charset="0"/>
                <a:ea typeface="Calibri" pitchFamily="34" charset="-122"/>
                <a:cs typeface="Calibri" pitchFamily="34" charset="-120"/>
              </a:rPr>
              <a:t>(base de partida)</a:t>
            </a:r>
            <a:endParaRPr lang="en-US" sz="1000" dirty="0"/>
          </a:p>
        </p:txBody>
      </p:sp>
      <p:sp>
        <p:nvSpPr>
          <p:cNvPr id="10" name="Shape 7"/>
          <p:cNvSpPr/>
          <p:nvPr/>
        </p:nvSpPr>
        <p:spPr>
          <a:xfrm>
            <a:off x="5943600" y="2560320"/>
            <a:ext cx="2880360" cy="1097280"/>
          </a:xfrm>
          <a:prstGeom prst="rect">
            <a:avLst/>
          </a:prstGeom>
          <a:solidFill>
            <a:srgbClr val="181A1C"/>
          </a:solidFill>
          <a:ln w="12700">
            <a:solidFill>
              <a:srgbClr val="2A2D32"/>
            </a:solidFill>
            <a:prstDash val="solid"/>
          </a:ln>
        </p:spPr>
      </p:sp>
      <p:sp>
        <p:nvSpPr>
          <p:cNvPr id="11" name="Shape 8"/>
          <p:cNvSpPr/>
          <p:nvPr/>
        </p:nvSpPr>
        <p:spPr>
          <a:xfrm>
            <a:off x="5943600" y="2560320"/>
            <a:ext cx="64008" cy="1097280"/>
          </a:xfrm>
          <a:prstGeom prst="rect">
            <a:avLst/>
          </a:prstGeom>
          <a:solidFill>
            <a:srgbClr val="00C896"/>
          </a:solidFill>
          <a:ln w="12700">
            <a:solidFill>
              <a:srgbClr val="00C896"/>
            </a:solidFill>
            <a:prstDash val="solid"/>
          </a:ln>
        </p:spPr>
      </p:sp>
      <p:sp>
        <p:nvSpPr>
          <p:cNvPr id="12" name="Text 9"/>
          <p:cNvSpPr/>
          <p:nvPr/>
        </p:nvSpPr>
        <p:spPr>
          <a:xfrm>
            <a:off x="6126480" y="2651760"/>
            <a:ext cx="2606040" cy="475488"/>
          </a:xfrm>
          <a:prstGeom prst="rect">
            <a:avLst/>
          </a:prstGeom>
          <a:noFill/>
          <a:ln/>
        </p:spPr>
        <p:txBody>
          <a:bodyPr wrap="square" lIns="0" tIns="0" rIns="0" bIns="0" rtlCol="0" anchor="ctr"/>
          <a:lstStyle/>
          <a:p>
            <a:pPr indent="0" marL="0">
              <a:buNone/>
            </a:pPr>
            <a:r>
              <a:rPr lang="en-US" sz="2800" b="1" dirty="0">
                <a:solidFill>
                  <a:srgbClr val="00C896"/>
                </a:solidFill>
                <a:latin typeface="Arial Black" pitchFamily="34" charset="0"/>
                <a:ea typeface="Arial Black" pitchFamily="34" charset="-122"/>
                <a:cs typeface="Arial Black" pitchFamily="34" charset="-120"/>
              </a:rPr>
              <a:t>+1.2M</a:t>
            </a:r>
            <a:endParaRPr lang="en-US" sz="2800" dirty="0"/>
          </a:p>
        </p:txBody>
      </p:sp>
      <p:sp>
        <p:nvSpPr>
          <p:cNvPr id="13" name="Text 10"/>
          <p:cNvSpPr/>
          <p:nvPr/>
        </p:nvSpPr>
        <p:spPr>
          <a:xfrm>
            <a:off x="6126480" y="3127248"/>
            <a:ext cx="2606040" cy="4572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visitas adicionales</a:t>
            </a:r>
            <a:endParaRPr lang="en-US" sz="1000" dirty="0"/>
          </a:p>
          <a:p>
            <a:pPr indent="0" marL="0">
              <a:buNone/>
            </a:pPr>
            <a:r>
              <a:rPr lang="en-US" sz="1000" dirty="0">
                <a:solidFill>
                  <a:srgbClr val="7A8090"/>
                </a:solidFill>
                <a:latin typeface="Calibri" pitchFamily="34" charset="0"/>
                <a:ea typeface="Calibri" pitchFamily="34" charset="-122"/>
                <a:cs typeface="Calibri" pitchFamily="34" charset="-120"/>
              </a:rPr>
              <a:t>estimadas al mes</a:t>
            </a:r>
            <a:endParaRPr lang="en-US" sz="1000" dirty="0"/>
          </a:p>
        </p:txBody>
      </p:sp>
      <p:sp>
        <p:nvSpPr>
          <p:cNvPr id="14" name="Shape 11"/>
          <p:cNvSpPr/>
          <p:nvPr/>
        </p:nvSpPr>
        <p:spPr>
          <a:xfrm>
            <a:off x="5943600" y="3840480"/>
            <a:ext cx="2880360" cy="1097280"/>
          </a:xfrm>
          <a:prstGeom prst="rect">
            <a:avLst/>
          </a:prstGeom>
          <a:solidFill>
            <a:srgbClr val="181A1C"/>
          </a:solidFill>
          <a:ln w="12700">
            <a:solidFill>
              <a:srgbClr val="2A2D32"/>
            </a:solidFill>
            <a:prstDash val="solid"/>
          </a:ln>
        </p:spPr>
      </p:sp>
      <p:sp>
        <p:nvSpPr>
          <p:cNvPr id="15" name="Shape 12"/>
          <p:cNvSpPr/>
          <p:nvPr/>
        </p:nvSpPr>
        <p:spPr>
          <a:xfrm>
            <a:off x="5943600" y="3840480"/>
            <a:ext cx="64008" cy="1097280"/>
          </a:xfrm>
          <a:prstGeom prst="rect">
            <a:avLst/>
          </a:prstGeom>
          <a:solidFill>
            <a:srgbClr val="FFD60A"/>
          </a:solidFill>
          <a:ln w="12700">
            <a:solidFill>
              <a:srgbClr val="FFD60A"/>
            </a:solidFill>
            <a:prstDash val="solid"/>
          </a:ln>
        </p:spPr>
      </p:sp>
      <p:sp>
        <p:nvSpPr>
          <p:cNvPr id="16" name="Text 13"/>
          <p:cNvSpPr/>
          <p:nvPr/>
        </p:nvSpPr>
        <p:spPr>
          <a:xfrm>
            <a:off x="6126480" y="3931920"/>
            <a:ext cx="2606040" cy="475488"/>
          </a:xfrm>
          <a:prstGeom prst="rect">
            <a:avLst/>
          </a:prstGeom>
          <a:noFill/>
          <a:ln/>
        </p:spPr>
        <p:txBody>
          <a:bodyPr wrap="square" lIns="0" tIns="0" rIns="0" bIns="0" rtlCol="0" anchor="ctr"/>
          <a:lstStyle/>
          <a:p>
            <a:pPr indent="0" marL="0">
              <a:buNone/>
            </a:pPr>
            <a:r>
              <a:rPr lang="en-US" sz="2800" b="1" dirty="0">
                <a:solidFill>
                  <a:srgbClr val="FFD60A"/>
                </a:solidFill>
                <a:latin typeface="Arial Black" pitchFamily="34" charset="0"/>
                <a:ea typeface="Arial Black" pitchFamily="34" charset="-122"/>
                <a:cs typeface="Arial Black" pitchFamily="34" charset="-120"/>
              </a:rPr>
              <a:t>8–14</a:t>
            </a:r>
            <a:endParaRPr lang="en-US" sz="2800" dirty="0"/>
          </a:p>
        </p:txBody>
      </p:sp>
      <p:sp>
        <p:nvSpPr>
          <p:cNvPr id="17" name="Text 14"/>
          <p:cNvSpPr/>
          <p:nvPr/>
        </p:nvSpPr>
        <p:spPr>
          <a:xfrm>
            <a:off x="6126480" y="4407408"/>
            <a:ext cx="2606040" cy="4572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meses para recuperar</a:t>
            </a:r>
            <a:endParaRPr lang="en-US" sz="1000" dirty="0"/>
          </a:p>
          <a:p>
            <a:pPr indent="0" marL="0">
              <a:buNone/>
            </a:pPr>
            <a:r>
              <a:rPr lang="en-US" sz="1000" dirty="0">
                <a:solidFill>
                  <a:srgbClr val="7A8090"/>
                </a:solidFill>
                <a:latin typeface="Calibri" pitchFamily="34" charset="0"/>
                <a:ea typeface="Calibri" pitchFamily="34" charset="-122"/>
                <a:cs typeface="Calibri" pitchFamily="34" charset="-120"/>
              </a:rPr>
              <a:t>la inversión completa</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6B35"/>
          </a:solidFill>
          <a:ln w="12700">
            <a:solidFill>
              <a:srgbClr val="FF6B35"/>
            </a:solidFill>
            <a:prstDash val="solid"/>
          </a:ln>
        </p:spPr>
      </p:sp>
      <p:sp>
        <p:nvSpPr>
          <p:cNvPr id="3" name="Text 1"/>
          <p:cNvSpPr/>
          <p:nvPr/>
        </p:nvSpPr>
        <p:spPr>
          <a:xfrm>
            <a:off x="320040" y="256032"/>
            <a:ext cx="8229600" cy="347472"/>
          </a:xfrm>
          <a:prstGeom prst="rect">
            <a:avLst/>
          </a:prstGeom>
          <a:noFill/>
          <a:ln/>
        </p:spPr>
        <p:txBody>
          <a:bodyPr wrap="square" lIns="0" tIns="0" rIns="0" bIns="0" rtlCol="0" anchor="ctr"/>
          <a:lstStyle/>
          <a:p>
            <a:pPr indent="0" marL="0">
              <a:buNone/>
            </a:pPr>
            <a:r>
              <a:rPr lang="en-US" sz="1000" spc="300" kern="0" dirty="0">
                <a:solidFill>
                  <a:srgbClr val="FF6B35"/>
                </a:solidFill>
                <a:latin typeface="Arial Black" pitchFamily="34" charset="0"/>
                <a:ea typeface="Arial Black" pitchFamily="34" charset="-122"/>
                <a:cs typeface="Arial Black" pitchFamily="34" charset="-120"/>
              </a:rPr>
              <a:t>06 · MODELOS DE MONETIZACIÓN</a:t>
            </a:r>
            <a:endParaRPr lang="en-US" sz="1000" dirty="0"/>
          </a:p>
        </p:txBody>
      </p:sp>
      <p:sp>
        <p:nvSpPr>
          <p:cNvPr id="4" name="Text 2"/>
          <p:cNvSpPr/>
          <p:nvPr/>
        </p:nvSpPr>
        <p:spPr>
          <a:xfrm>
            <a:off x="320040" y="658368"/>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6 fuentes de ingreso nuevas</a:t>
            </a:r>
            <a:endParaRPr lang="en-US" sz="2600" dirty="0"/>
          </a:p>
        </p:txBody>
      </p:sp>
      <p:sp>
        <p:nvSpPr>
          <p:cNvPr id="5" name="Shape 3"/>
          <p:cNvSpPr/>
          <p:nvPr/>
        </p:nvSpPr>
        <p:spPr>
          <a:xfrm>
            <a:off x="320040" y="1353312"/>
            <a:ext cx="2743200" cy="1572768"/>
          </a:xfrm>
          <a:prstGeom prst="rect">
            <a:avLst/>
          </a:prstGeom>
          <a:solidFill>
            <a:srgbClr val="181A1C"/>
          </a:solidFill>
          <a:ln w="12700">
            <a:solidFill>
              <a:srgbClr val="2A2D32"/>
            </a:solidFill>
            <a:prstDash val="solid"/>
          </a:ln>
        </p:spPr>
      </p:sp>
      <p:sp>
        <p:nvSpPr>
          <p:cNvPr id="6" name="Text 4"/>
          <p:cNvSpPr/>
          <p:nvPr/>
        </p:nvSpPr>
        <p:spPr>
          <a:xfrm>
            <a:off x="457200" y="1463040"/>
            <a:ext cx="246888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Publicidad In-Game</a:t>
            </a:r>
            <a:endParaRPr lang="en-US" sz="1200" dirty="0"/>
          </a:p>
        </p:txBody>
      </p:sp>
      <p:sp>
        <p:nvSpPr>
          <p:cNvPr id="7" name="Text 5"/>
          <p:cNvSpPr/>
          <p:nvPr/>
        </p:nvSpPr>
        <p:spPr>
          <a:xfrm>
            <a:off x="457200" y="1837944"/>
            <a:ext cx="2468880" cy="256032"/>
          </a:xfrm>
          <a:prstGeom prst="rect">
            <a:avLst/>
          </a:prstGeom>
          <a:noFill/>
          <a:ln/>
        </p:spPr>
        <p:txBody>
          <a:bodyPr wrap="square" lIns="0" tIns="0" rIns="0" bIns="0" rtlCol="0" anchor="ctr"/>
          <a:lstStyle/>
          <a:p>
            <a:pPr indent="0" marL="0">
              <a:buNone/>
            </a:pPr>
            <a:r>
              <a:rPr lang="en-US" sz="1100" b="1" dirty="0">
                <a:solidFill>
                  <a:srgbClr val="00C896"/>
                </a:solidFill>
                <a:latin typeface="Calibri" pitchFamily="34" charset="0"/>
                <a:ea typeface="Calibri" pitchFamily="34" charset="-122"/>
                <a:cs typeface="Calibri" pitchFamily="34" charset="-120"/>
              </a:rPr>
              <a:t>$3M–$8M CLP/mes</a:t>
            </a:r>
            <a:endParaRPr lang="en-US" sz="1100" dirty="0"/>
          </a:p>
        </p:txBody>
      </p:sp>
      <p:sp>
        <p:nvSpPr>
          <p:cNvPr id="8" name="Text 6"/>
          <p:cNvSpPr/>
          <p:nvPr/>
        </p:nvSpPr>
        <p:spPr>
          <a:xfrm>
            <a:off x="457200" y="2130552"/>
            <a:ext cx="2468880" cy="6858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Marcas como Toyota, Chevrolet y Suzuki patrocinan pistas y personajes en ChileKart.</a:t>
            </a:r>
            <a:endParaRPr lang="en-US" sz="1000" dirty="0"/>
          </a:p>
        </p:txBody>
      </p:sp>
      <p:sp>
        <p:nvSpPr>
          <p:cNvPr id="9" name="Shape 7"/>
          <p:cNvSpPr/>
          <p:nvPr/>
        </p:nvSpPr>
        <p:spPr>
          <a:xfrm>
            <a:off x="3264408" y="1353312"/>
            <a:ext cx="2743200" cy="1572768"/>
          </a:xfrm>
          <a:prstGeom prst="rect">
            <a:avLst/>
          </a:prstGeom>
          <a:solidFill>
            <a:srgbClr val="181A1C"/>
          </a:solidFill>
          <a:ln w="12700">
            <a:solidFill>
              <a:srgbClr val="2A2D32"/>
            </a:solidFill>
            <a:prstDash val="solid"/>
          </a:ln>
        </p:spPr>
      </p:sp>
      <p:sp>
        <p:nvSpPr>
          <p:cNvPr id="10" name="Text 8"/>
          <p:cNvSpPr/>
          <p:nvPr/>
        </p:nvSpPr>
        <p:spPr>
          <a:xfrm>
            <a:off x="3401568" y="1463040"/>
            <a:ext cx="246888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Membresía Premium</a:t>
            </a:r>
            <a:endParaRPr lang="en-US" sz="1200" dirty="0"/>
          </a:p>
        </p:txBody>
      </p:sp>
      <p:sp>
        <p:nvSpPr>
          <p:cNvPr id="11" name="Text 9"/>
          <p:cNvSpPr/>
          <p:nvPr/>
        </p:nvSpPr>
        <p:spPr>
          <a:xfrm>
            <a:off x="3401568" y="1837944"/>
            <a:ext cx="2468880" cy="256032"/>
          </a:xfrm>
          <a:prstGeom prst="rect">
            <a:avLst/>
          </a:prstGeom>
          <a:noFill/>
          <a:ln/>
        </p:spPr>
        <p:txBody>
          <a:bodyPr wrap="square" lIns="0" tIns="0" rIns="0" bIns="0" rtlCol="0" anchor="ctr"/>
          <a:lstStyle/>
          <a:p>
            <a:pPr indent="0" marL="0">
              <a:buNone/>
            </a:pPr>
            <a:r>
              <a:rPr lang="en-US" sz="1100" b="1" dirty="0">
                <a:solidFill>
                  <a:srgbClr val="00C896"/>
                </a:solidFill>
                <a:latin typeface="Calibri" pitchFamily="34" charset="0"/>
                <a:ea typeface="Calibri" pitchFamily="34" charset="-122"/>
                <a:cs typeface="Calibri" pitchFamily="34" charset="-120"/>
              </a:rPr>
              <a:t>$5M–$12M CLP/mes</a:t>
            </a:r>
            <a:endParaRPr lang="en-US" sz="1100" dirty="0"/>
          </a:p>
        </p:txBody>
      </p:sp>
      <p:sp>
        <p:nvSpPr>
          <p:cNvPr id="12" name="Text 10"/>
          <p:cNvSpPr/>
          <p:nvPr/>
        </p:nvSpPr>
        <p:spPr>
          <a:xfrm>
            <a:off x="3401568" y="2130552"/>
            <a:ext cx="2468880" cy="6858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Suscripción "ChileAutos Pro" con autos exclusivos y beneficios reales en el marketplace.</a:t>
            </a:r>
            <a:endParaRPr lang="en-US" sz="1000" dirty="0"/>
          </a:p>
        </p:txBody>
      </p:sp>
      <p:sp>
        <p:nvSpPr>
          <p:cNvPr id="13" name="Shape 11"/>
          <p:cNvSpPr/>
          <p:nvPr/>
        </p:nvSpPr>
        <p:spPr>
          <a:xfrm>
            <a:off x="6208776" y="1353312"/>
            <a:ext cx="2743200" cy="1572768"/>
          </a:xfrm>
          <a:prstGeom prst="rect">
            <a:avLst/>
          </a:prstGeom>
          <a:solidFill>
            <a:srgbClr val="181A1C"/>
          </a:solidFill>
          <a:ln w="12700">
            <a:solidFill>
              <a:srgbClr val="2A2D32"/>
            </a:solidFill>
            <a:prstDash val="solid"/>
          </a:ln>
        </p:spPr>
      </p:sp>
      <p:sp>
        <p:nvSpPr>
          <p:cNvPr id="14" name="Text 12"/>
          <p:cNvSpPr/>
          <p:nvPr/>
        </p:nvSpPr>
        <p:spPr>
          <a:xfrm>
            <a:off x="6345936" y="1463040"/>
            <a:ext cx="246888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Partnerships B2B</a:t>
            </a:r>
            <a:endParaRPr lang="en-US" sz="1200" dirty="0"/>
          </a:p>
        </p:txBody>
      </p:sp>
      <p:sp>
        <p:nvSpPr>
          <p:cNvPr id="15" name="Text 13"/>
          <p:cNvSpPr/>
          <p:nvPr/>
        </p:nvSpPr>
        <p:spPr>
          <a:xfrm>
            <a:off x="6345936" y="1837944"/>
            <a:ext cx="2468880" cy="256032"/>
          </a:xfrm>
          <a:prstGeom prst="rect">
            <a:avLst/>
          </a:prstGeom>
          <a:noFill/>
          <a:ln/>
        </p:spPr>
        <p:txBody>
          <a:bodyPr wrap="square" lIns="0" tIns="0" rIns="0" bIns="0" rtlCol="0" anchor="ctr"/>
          <a:lstStyle/>
          <a:p>
            <a:pPr indent="0" marL="0">
              <a:buNone/>
            </a:pPr>
            <a:r>
              <a:rPr lang="en-US" sz="1100" b="1" dirty="0">
                <a:solidFill>
                  <a:srgbClr val="00C896"/>
                </a:solidFill>
                <a:latin typeface="Calibri" pitchFamily="34" charset="0"/>
                <a:ea typeface="Calibri" pitchFamily="34" charset="-122"/>
                <a:cs typeface="Calibri" pitchFamily="34" charset="-120"/>
              </a:rPr>
              <a:t>$8M–$20M CLP/mes</a:t>
            </a:r>
            <a:endParaRPr lang="en-US" sz="1100" dirty="0"/>
          </a:p>
        </p:txBody>
      </p:sp>
      <p:sp>
        <p:nvSpPr>
          <p:cNvPr id="16" name="Text 14"/>
          <p:cNvSpPr/>
          <p:nvPr/>
        </p:nvSpPr>
        <p:spPr>
          <a:xfrm>
            <a:off x="6345936" y="2130552"/>
            <a:ext cx="2468880" cy="6858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Concesionarias reales pagan para existir como 'franquicias' dentro del juego virtual.</a:t>
            </a:r>
            <a:endParaRPr lang="en-US" sz="1000" dirty="0"/>
          </a:p>
        </p:txBody>
      </p:sp>
      <p:sp>
        <p:nvSpPr>
          <p:cNvPr id="17" name="Shape 15"/>
          <p:cNvSpPr/>
          <p:nvPr/>
        </p:nvSpPr>
        <p:spPr>
          <a:xfrm>
            <a:off x="320040" y="3182112"/>
            <a:ext cx="2743200" cy="1572768"/>
          </a:xfrm>
          <a:prstGeom prst="rect">
            <a:avLst/>
          </a:prstGeom>
          <a:solidFill>
            <a:srgbClr val="181A1C"/>
          </a:solidFill>
          <a:ln w="12700">
            <a:solidFill>
              <a:srgbClr val="2A2D32"/>
            </a:solidFill>
            <a:prstDash val="solid"/>
          </a:ln>
        </p:spPr>
      </p:sp>
      <p:sp>
        <p:nvSpPr>
          <p:cNvPr id="18" name="Text 16"/>
          <p:cNvSpPr/>
          <p:nvPr/>
        </p:nvSpPr>
        <p:spPr>
          <a:xfrm>
            <a:off x="457200" y="3291840"/>
            <a:ext cx="246888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Data Monetization</a:t>
            </a:r>
            <a:endParaRPr lang="en-US" sz="1200" dirty="0"/>
          </a:p>
        </p:txBody>
      </p:sp>
      <p:sp>
        <p:nvSpPr>
          <p:cNvPr id="19" name="Text 17"/>
          <p:cNvSpPr/>
          <p:nvPr/>
        </p:nvSpPr>
        <p:spPr>
          <a:xfrm>
            <a:off x="457200" y="3666744"/>
            <a:ext cx="2468880" cy="256032"/>
          </a:xfrm>
          <a:prstGeom prst="rect">
            <a:avLst/>
          </a:prstGeom>
          <a:noFill/>
          <a:ln/>
        </p:spPr>
        <p:txBody>
          <a:bodyPr wrap="square" lIns="0" tIns="0" rIns="0" bIns="0" rtlCol="0" anchor="ctr"/>
          <a:lstStyle/>
          <a:p>
            <a:pPr indent="0" marL="0">
              <a:buNone/>
            </a:pPr>
            <a:r>
              <a:rPr lang="en-US" sz="1100" b="1" dirty="0">
                <a:solidFill>
                  <a:srgbClr val="00C896"/>
                </a:solidFill>
                <a:latin typeface="Calibri" pitchFamily="34" charset="0"/>
                <a:ea typeface="Calibri" pitchFamily="34" charset="-122"/>
                <a:cs typeface="Calibri" pitchFamily="34" charset="-120"/>
              </a:rPr>
              <a:t>$2M–$6M CLP/mes</a:t>
            </a:r>
            <a:endParaRPr lang="en-US" sz="1100" dirty="0"/>
          </a:p>
        </p:txBody>
      </p:sp>
      <p:sp>
        <p:nvSpPr>
          <p:cNvPr id="20" name="Text 18"/>
          <p:cNvSpPr/>
          <p:nvPr/>
        </p:nvSpPr>
        <p:spPr>
          <a:xfrm>
            <a:off x="457200" y="3959352"/>
            <a:ext cx="2468880" cy="6858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Reportes de intención de compra vendibles a aseguradoras, bancos y fabricantes.</a:t>
            </a:r>
            <a:endParaRPr lang="en-US" sz="1000" dirty="0"/>
          </a:p>
        </p:txBody>
      </p:sp>
      <p:sp>
        <p:nvSpPr>
          <p:cNvPr id="21" name="Shape 19"/>
          <p:cNvSpPr/>
          <p:nvPr/>
        </p:nvSpPr>
        <p:spPr>
          <a:xfrm>
            <a:off x="3264408" y="3182112"/>
            <a:ext cx="2743200" cy="1572768"/>
          </a:xfrm>
          <a:prstGeom prst="rect">
            <a:avLst/>
          </a:prstGeom>
          <a:solidFill>
            <a:srgbClr val="181A1C"/>
          </a:solidFill>
          <a:ln w="12700">
            <a:solidFill>
              <a:srgbClr val="2A2D32"/>
            </a:solidFill>
            <a:prstDash val="solid"/>
          </a:ln>
        </p:spPr>
      </p:sp>
      <p:sp>
        <p:nvSpPr>
          <p:cNvPr id="22" name="Text 20"/>
          <p:cNvSpPr/>
          <p:nvPr/>
        </p:nvSpPr>
        <p:spPr>
          <a:xfrm>
            <a:off x="3401568" y="3291840"/>
            <a:ext cx="246888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Torneos y Eventos</a:t>
            </a:r>
            <a:endParaRPr lang="en-US" sz="1200" dirty="0"/>
          </a:p>
        </p:txBody>
      </p:sp>
      <p:sp>
        <p:nvSpPr>
          <p:cNvPr id="23" name="Text 21"/>
          <p:cNvSpPr/>
          <p:nvPr/>
        </p:nvSpPr>
        <p:spPr>
          <a:xfrm>
            <a:off x="3401568" y="3666744"/>
            <a:ext cx="2468880" cy="256032"/>
          </a:xfrm>
          <a:prstGeom prst="rect">
            <a:avLst/>
          </a:prstGeom>
          <a:noFill/>
          <a:ln/>
        </p:spPr>
        <p:txBody>
          <a:bodyPr wrap="square" lIns="0" tIns="0" rIns="0" bIns="0" rtlCol="0" anchor="ctr"/>
          <a:lstStyle/>
          <a:p>
            <a:pPr indent="0" marL="0">
              <a:buNone/>
            </a:pPr>
            <a:r>
              <a:rPr lang="en-US" sz="1100" b="1" dirty="0">
                <a:solidFill>
                  <a:srgbClr val="00C896"/>
                </a:solidFill>
                <a:latin typeface="Calibri" pitchFamily="34" charset="0"/>
                <a:ea typeface="Calibri" pitchFamily="34" charset="-122"/>
                <a:cs typeface="Calibri" pitchFamily="34" charset="-120"/>
              </a:rPr>
              <a:t>Modelo por evento</a:t>
            </a:r>
            <a:endParaRPr lang="en-US" sz="1100" dirty="0"/>
          </a:p>
        </p:txBody>
      </p:sp>
      <p:sp>
        <p:nvSpPr>
          <p:cNvPr id="24" name="Text 22"/>
          <p:cNvSpPr/>
          <p:nvPr/>
        </p:nvSpPr>
        <p:spPr>
          <a:xfrm>
            <a:off x="3401568" y="3959352"/>
            <a:ext cx="2468880" cy="6858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Campeonato nacional de ChileKart con un auto real como premio máximo. PR masivo.</a:t>
            </a:r>
            <a:endParaRPr lang="en-US" sz="1000" dirty="0"/>
          </a:p>
        </p:txBody>
      </p:sp>
      <p:sp>
        <p:nvSpPr>
          <p:cNvPr id="25" name="Shape 23"/>
          <p:cNvSpPr/>
          <p:nvPr/>
        </p:nvSpPr>
        <p:spPr>
          <a:xfrm>
            <a:off x="6208776" y="3182112"/>
            <a:ext cx="2743200" cy="1572768"/>
          </a:xfrm>
          <a:prstGeom prst="rect">
            <a:avLst/>
          </a:prstGeom>
          <a:solidFill>
            <a:srgbClr val="181A1C"/>
          </a:solidFill>
          <a:ln w="12700">
            <a:solidFill>
              <a:srgbClr val="2A2D32"/>
            </a:solidFill>
            <a:prstDash val="solid"/>
          </a:ln>
        </p:spPr>
      </p:sp>
      <p:sp>
        <p:nvSpPr>
          <p:cNvPr id="26" name="Text 24"/>
          <p:cNvSpPr/>
          <p:nvPr/>
        </p:nvSpPr>
        <p:spPr>
          <a:xfrm>
            <a:off x="6345936" y="3291840"/>
            <a:ext cx="2468880" cy="347472"/>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 Cross-selling Servicios</a:t>
            </a:r>
            <a:endParaRPr lang="en-US" sz="1200" dirty="0"/>
          </a:p>
        </p:txBody>
      </p:sp>
      <p:sp>
        <p:nvSpPr>
          <p:cNvPr id="27" name="Text 25"/>
          <p:cNvSpPr/>
          <p:nvPr/>
        </p:nvSpPr>
        <p:spPr>
          <a:xfrm>
            <a:off x="6345936" y="3666744"/>
            <a:ext cx="2468880" cy="256032"/>
          </a:xfrm>
          <a:prstGeom prst="rect">
            <a:avLst/>
          </a:prstGeom>
          <a:noFill/>
          <a:ln/>
        </p:spPr>
        <p:txBody>
          <a:bodyPr wrap="square" lIns="0" tIns="0" rIns="0" bIns="0" rtlCol="0" anchor="ctr"/>
          <a:lstStyle/>
          <a:p>
            <a:pPr indent="0" marL="0">
              <a:buNone/>
            </a:pPr>
            <a:r>
              <a:rPr lang="en-US" sz="1100" b="1" dirty="0">
                <a:solidFill>
                  <a:srgbClr val="00C896"/>
                </a:solidFill>
                <a:latin typeface="Calibri" pitchFamily="34" charset="0"/>
                <a:ea typeface="Calibri" pitchFamily="34" charset="-122"/>
                <a:cs typeface="Calibri" pitchFamily="34" charset="-120"/>
              </a:rPr>
              <a:t>% conversión</a:t>
            </a:r>
            <a:endParaRPr lang="en-US" sz="1100" dirty="0"/>
          </a:p>
        </p:txBody>
      </p:sp>
      <p:sp>
        <p:nvSpPr>
          <p:cNvPr id="28" name="Text 26"/>
          <p:cNvSpPr/>
          <p:nvPr/>
        </p:nvSpPr>
        <p:spPr>
          <a:xfrm>
            <a:off x="6345936" y="3959352"/>
            <a:ext cx="2468880" cy="68580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Mecánico Pro conecta directamente con talleres, seguros y financieras del ecosistema.</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FD60A"/>
          </a:solidFill>
          <a:ln w="12700">
            <a:solidFill>
              <a:srgbClr val="FFD60A"/>
            </a:solidFill>
            <a:prstDash val="solid"/>
          </a:ln>
        </p:spPr>
      </p:sp>
      <p:sp>
        <p:nvSpPr>
          <p:cNvPr id="3" name="Text 1"/>
          <p:cNvSpPr/>
          <p:nvPr/>
        </p:nvSpPr>
        <p:spPr>
          <a:xfrm>
            <a:off x="320040" y="256032"/>
            <a:ext cx="8229600" cy="347472"/>
          </a:xfrm>
          <a:prstGeom prst="rect">
            <a:avLst/>
          </a:prstGeom>
          <a:noFill/>
          <a:ln/>
        </p:spPr>
        <p:txBody>
          <a:bodyPr wrap="square" lIns="0" tIns="0" rIns="0" bIns="0" rtlCol="0" anchor="ctr"/>
          <a:lstStyle/>
          <a:p>
            <a:pPr indent="0" marL="0">
              <a:buNone/>
            </a:pPr>
            <a:r>
              <a:rPr lang="en-US" sz="1000" spc="300" kern="0" dirty="0">
                <a:solidFill>
                  <a:srgbClr val="FFD60A"/>
                </a:solidFill>
                <a:latin typeface="Arial Black" pitchFamily="34" charset="0"/>
                <a:ea typeface="Arial Black" pitchFamily="34" charset="-122"/>
                <a:cs typeface="Arial Black" pitchFamily="34" charset="-120"/>
              </a:rPr>
              <a:t>07 · ROADMAP DE IMPLEMENTACIÓN</a:t>
            </a:r>
            <a:endParaRPr lang="en-US" sz="1000" dirty="0"/>
          </a:p>
        </p:txBody>
      </p:sp>
      <p:sp>
        <p:nvSpPr>
          <p:cNvPr id="4" name="Text 2"/>
          <p:cNvSpPr/>
          <p:nvPr/>
        </p:nvSpPr>
        <p:spPr>
          <a:xfrm>
            <a:off x="320040" y="658368"/>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Tres fases. Riesgo progresivo. MVP en 90 días.</a:t>
            </a:r>
            <a:endParaRPr lang="en-US" sz="2200" dirty="0"/>
          </a:p>
        </p:txBody>
      </p:sp>
      <p:sp>
        <p:nvSpPr>
          <p:cNvPr id="5" name="Shape 3"/>
          <p:cNvSpPr/>
          <p:nvPr/>
        </p:nvSpPr>
        <p:spPr>
          <a:xfrm>
            <a:off x="320040" y="1325880"/>
            <a:ext cx="2743200" cy="3520440"/>
          </a:xfrm>
          <a:prstGeom prst="rect">
            <a:avLst/>
          </a:prstGeom>
          <a:solidFill>
            <a:srgbClr val="1E2124"/>
          </a:solidFill>
          <a:ln w="12700">
            <a:solidFill>
              <a:srgbClr val="2A2D32"/>
            </a:solidFill>
            <a:prstDash val="solid"/>
          </a:ln>
        </p:spPr>
      </p:sp>
      <p:sp>
        <p:nvSpPr>
          <p:cNvPr id="6" name="Shape 4"/>
          <p:cNvSpPr/>
          <p:nvPr/>
        </p:nvSpPr>
        <p:spPr>
          <a:xfrm>
            <a:off x="320040" y="1325880"/>
            <a:ext cx="2743200" cy="73152"/>
          </a:xfrm>
          <a:prstGeom prst="rect">
            <a:avLst/>
          </a:prstGeom>
          <a:solidFill>
            <a:srgbClr val="E8002D"/>
          </a:solidFill>
          <a:ln w="12700">
            <a:solidFill>
              <a:srgbClr val="E8002D"/>
            </a:solidFill>
            <a:prstDash val="solid"/>
          </a:ln>
        </p:spPr>
      </p:sp>
      <p:sp>
        <p:nvSpPr>
          <p:cNvPr id="7" name="Text 5"/>
          <p:cNvSpPr/>
          <p:nvPr/>
        </p:nvSpPr>
        <p:spPr>
          <a:xfrm>
            <a:off x="457200" y="1444752"/>
            <a:ext cx="548640" cy="457200"/>
          </a:xfrm>
          <a:prstGeom prst="rect">
            <a:avLst/>
          </a:prstGeom>
          <a:noFill/>
          <a:ln/>
        </p:spPr>
        <p:txBody>
          <a:bodyPr wrap="square" lIns="0" tIns="0" rIns="0" bIns="0" rtlCol="0" anchor="ctr"/>
          <a:lstStyle/>
          <a:p>
            <a:pPr indent="0" marL="0">
              <a:buNone/>
            </a:pPr>
            <a:r>
              <a:rPr lang="en-US" sz="2600" b="1" dirty="0">
                <a:solidFill>
                  <a:srgbClr val="E8002D"/>
                </a:solidFill>
                <a:latin typeface="Arial Black" pitchFamily="34" charset="0"/>
                <a:ea typeface="Arial Black" pitchFamily="34" charset="-122"/>
                <a:cs typeface="Arial Black" pitchFamily="34" charset="-120"/>
              </a:rPr>
              <a:t>01</a:t>
            </a:r>
            <a:endParaRPr lang="en-US" sz="2600" dirty="0"/>
          </a:p>
        </p:txBody>
      </p:sp>
      <p:sp>
        <p:nvSpPr>
          <p:cNvPr id="8" name="Text 6"/>
          <p:cNvSpPr/>
          <p:nvPr/>
        </p:nvSpPr>
        <p:spPr>
          <a:xfrm>
            <a:off x="457200" y="1920240"/>
            <a:ext cx="2468880" cy="256032"/>
          </a:xfrm>
          <a:prstGeom prst="rect">
            <a:avLst/>
          </a:prstGeom>
          <a:noFill/>
          <a:ln/>
        </p:spPr>
        <p:txBody>
          <a:bodyPr wrap="square" lIns="0" tIns="0" rIns="0" bIns="0" rtlCol="0" anchor="ctr"/>
          <a:lstStyle/>
          <a:p>
            <a:pPr indent="0" marL="0">
              <a:buNone/>
            </a:pPr>
            <a:r>
              <a:rPr lang="en-US" sz="800" spc="200" kern="0" dirty="0">
                <a:solidFill>
                  <a:srgbClr val="E8002D"/>
                </a:solidFill>
                <a:latin typeface="Calibri" pitchFamily="34" charset="0"/>
                <a:ea typeface="Calibri" pitchFamily="34" charset="-122"/>
                <a:cs typeface="Calibri" pitchFamily="34" charset="-120"/>
              </a:rPr>
              <a:t>MESES 1–3</a:t>
            </a:r>
            <a:endParaRPr lang="en-US" sz="800" dirty="0"/>
          </a:p>
        </p:txBody>
      </p:sp>
      <p:sp>
        <p:nvSpPr>
          <p:cNvPr id="9" name="Text 7"/>
          <p:cNvSpPr/>
          <p:nvPr/>
        </p:nvSpPr>
        <p:spPr>
          <a:xfrm>
            <a:off x="457200" y="2212848"/>
            <a:ext cx="246888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MVP — LANZAMIENTO</a:t>
            </a:r>
            <a:endParaRPr lang="en-US" sz="1400" dirty="0"/>
          </a:p>
        </p:txBody>
      </p:sp>
      <p:sp>
        <p:nvSpPr>
          <p:cNvPr id="10" name="Shape 8"/>
          <p:cNvSpPr/>
          <p:nvPr/>
        </p:nvSpPr>
        <p:spPr>
          <a:xfrm>
            <a:off x="457200" y="2679192"/>
            <a:ext cx="2468880" cy="274320"/>
          </a:xfrm>
          <a:prstGeom prst="rect">
            <a:avLst/>
          </a:prstGeom>
          <a:solidFill>
            <a:srgbClr val="181A1C"/>
          </a:solidFill>
          <a:ln w="12700">
            <a:solidFill>
              <a:srgbClr val="2A2D32"/>
            </a:solidFill>
            <a:prstDash val="solid"/>
          </a:ln>
        </p:spPr>
      </p:sp>
      <p:sp>
        <p:nvSpPr>
          <p:cNvPr id="11" name="Text 9"/>
          <p:cNvSpPr/>
          <p:nvPr/>
        </p:nvSpPr>
        <p:spPr>
          <a:xfrm>
            <a:off x="502920" y="2706624"/>
            <a:ext cx="2377440" cy="219456"/>
          </a:xfrm>
          <a:prstGeom prst="rect">
            <a:avLst/>
          </a:prstGeom>
          <a:noFill/>
          <a:ln/>
        </p:spPr>
        <p:txBody>
          <a:bodyPr wrap="square" lIns="0" tIns="0" rIns="0" bIns="0" rtlCol="0" anchor="ctr"/>
          <a:lstStyle/>
          <a:p>
            <a:pPr indent="0" marL="0">
              <a:buNone/>
            </a:pPr>
            <a:r>
              <a:rPr lang="en-US" sz="900" b="1" dirty="0">
                <a:solidFill>
                  <a:srgbClr val="E8002D"/>
                </a:solidFill>
                <a:latin typeface="Calibri" pitchFamily="34" charset="0"/>
                <a:ea typeface="Calibri" pitchFamily="34" charset="-122"/>
                <a:cs typeface="Calibri" pitchFamily="34" charset="-120"/>
              </a:rPr>
              <a:t>💰 $15M–$30M CLP</a:t>
            </a:r>
            <a:endParaRPr lang="en-US" sz="900" dirty="0"/>
          </a:p>
        </p:txBody>
      </p:sp>
      <p:sp>
        <p:nvSpPr>
          <p:cNvPr id="12" name="Text 10"/>
          <p:cNvSpPr/>
          <p:nvPr/>
        </p:nvSpPr>
        <p:spPr>
          <a:xfrm>
            <a:off x="429768" y="3090672"/>
            <a:ext cx="2523744" cy="292608"/>
          </a:xfrm>
          <a:prstGeom prst="rect">
            <a:avLst/>
          </a:prstGeom>
          <a:noFill/>
          <a:ln/>
        </p:spPr>
        <p:txBody>
          <a:bodyPr wrap="square" lIns="0" tIns="0" rIns="0" bIns="0" rtlCol="0" anchor="ctr"/>
          <a:lstStyle/>
          <a:p>
            <a:pPr indent="0" marL="0">
              <a:buNone/>
            </a:pPr>
            <a:r>
              <a:rPr lang="en-US" sz="1000" b="1" dirty="0">
                <a:solidFill>
                  <a:srgbClr val="E8002D"/>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Trivia '¿Cuánto Vale?' en HTML5</a:t>
            </a:r>
            <a:endParaRPr lang="en-US" sz="1000" dirty="0"/>
          </a:p>
        </p:txBody>
      </p:sp>
      <p:sp>
        <p:nvSpPr>
          <p:cNvPr id="13" name="Text 11"/>
          <p:cNvSpPr/>
          <p:nvPr/>
        </p:nvSpPr>
        <p:spPr>
          <a:xfrm>
            <a:off x="429768" y="3429000"/>
            <a:ext cx="2523744" cy="292608"/>
          </a:xfrm>
          <a:prstGeom prst="rect">
            <a:avLst/>
          </a:prstGeom>
          <a:noFill/>
          <a:ln/>
        </p:spPr>
        <p:txBody>
          <a:bodyPr wrap="square" lIns="0" tIns="0" rIns="0" bIns="0" rtlCol="0" anchor="ctr"/>
          <a:lstStyle/>
          <a:p>
            <a:pPr indent="0" marL="0">
              <a:buNone/>
            </a:pPr>
            <a:r>
              <a:rPr lang="en-US" sz="1000" b="1" dirty="0">
                <a:solidFill>
                  <a:srgbClr val="E8002D"/>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Test Drive Quiz viral</a:t>
            </a:r>
            <a:endParaRPr lang="en-US" sz="1000" dirty="0"/>
          </a:p>
        </p:txBody>
      </p:sp>
      <p:sp>
        <p:nvSpPr>
          <p:cNvPr id="14" name="Text 12"/>
          <p:cNvSpPr/>
          <p:nvPr/>
        </p:nvSpPr>
        <p:spPr>
          <a:xfrm>
            <a:off x="429768" y="3767328"/>
            <a:ext cx="2523744" cy="292608"/>
          </a:xfrm>
          <a:prstGeom prst="rect">
            <a:avLst/>
          </a:prstGeom>
          <a:noFill/>
          <a:ln/>
        </p:spPr>
        <p:txBody>
          <a:bodyPr wrap="square" lIns="0" tIns="0" rIns="0" bIns="0" rtlCol="0" anchor="ctr"/>
          <a:lstStyle/>
          <a:p>
            <a:pPr indent="0" marL="0">
              <a:buNone/>
            </a:pPr>
            <a:r>
              <a:rPr lang="en-US" sz="1000" b="1" dirty="0">
                <a:solidFill>
                  <a:srgbClr val="E8002D"/>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Sistema de puntos y ranking semanal</a:t>
            </a:r>
            <a:endParaRPr lang="en-US" sz="1000" dirty="0"/>
          </a:p>
        </p:txBody>
      </p:sp>
      <p:sp>
        <p:nvSpPr>
          <p:cNvPr id="15" name="Text 13"/>
          <p:cNvSpPr/>
          <p:nvPr/>
        </p:nvSpPr>
        <p:spPr>
          <a:xfrm>
            <a:off x="429768" y="4105656"/>
            <a:ext cx="2523744" cy="292608"/>
          </a:xfrm>
          <a:prstGeom prst="rect">
            <a:avLst/>
          </a:prstGeom>
          <a:noFill/>
          <a:ln/>
        </p:spPr>
        <p:txBody>
          <a:bodyPr wrap="square" lIns="0" tIns="0" rIns="0" bIns="0" rtlCol="0" anchor="ctr"/>
          <a:lstStyle/>
          <a:p>
            <a:pPr indent="0" marL="0">
              <a:buNone/>
            </a:pPr>
            <a:r>
              <a:rPr lang="en-US" sz="1000" b="1" dirty="0">
                <a:solidFill>
                  <a:srgbClr val="E8002D"/>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Primeros premios reales (descuentos, destacados)</a:t>
            </a:r>
            <a:endParaRPr lang="en-US" sz="1000" dirty="0"/>
          </a:p>
        </p:txBody>
      </p:sp>
      <p:sp>
        <p:nvSpPr>
          <p:cNvPr id="16" name="Shape 14"/>
          <p:cNvSpPr/>
          <p:nvPr/>
        </p:nvSpPr>
        <p:spPr>
          <a:xfrm>
            <a:off x="3264408" y="1325880"/>
            <a:ext cx="2743200" cy="3520440"/>
          </a:xfrm>
          <a:prstGeom prst="rect">
            <a:avLst/>
          </a:prstGeom>
          <a:solidFill>
            <a:srgbClr val="1E2124"/>
          </a:solidFill>
          <a:ln w="12700">
            <a:solidFill>
              <a:srgbClr val="2A2D32"/>
            </a:solidFill>
            <a:prstDash val="solid"/>
          </a:ln>
        </p:spPr>
      </p:sp>
      <p:sp>
        <p:nvSpPr>
          <p:cNvPr id="17" name="Shape 15"/>
          <p:cNvSpPr/>
          <p:nvPr/>
        </p:nvSpPr>
        <p:spPr>
          <a:xfrm>
            <a:off x="3264408" y="1325880"/>
            <a:ext cx="2743200" cy="73152"/>
          </a:xfrm>
          <a:prstGeom prst="rect">
            <a:avLst/>
          </a:prstGeom>
          <a:solidFill>
            <a:srgbClr val="FFD60A"/>
          </a:solidFill>
          <a:ln w="12700">
            <a:solidFill>
              <a:srgbClr val="FFD60A"/>
            </a:solidFill>
            <a:prstDash val="solid"/>
          </a:ln>
        </p:spPr>
      </p:sp>
      <p:sp>
        <p:nvSpPr>
          <p:cNvPr id="18" name="Text 16"/>
          <p:cNvSpPr/>
          <p:nvPr/>
        </p:nvSpPr>
        <p:spPr>
          <a:xfrm>
            <a:off x="3401568" y="1444752"/>
            <a:ext cx="548640" cy="457200"/>
          </a:xfrm>
          <a:prstGeom prst="rect">
            <a:avLst/>
          </a:prstGeom>
          <a:noFill/>
          <a:ln/>
        </p:spPr>
        <p:txBody>
          <a:bodyPr wrap="square" lIns="0" tIns="0" rIns="0" bIns="0" rtlCol="0" anchor="ctr"/>
          <a:lstStyle/>
          <a:p>
            <a:pPr indent="0" marL="0">
              <a:buNone/>
            </a:pPr>
            <a:r>
              <a:rPr lang="en-US" sz="2600" b="1" dirty="0">
                <a:solidFill>
                  <a:srgbClr val="FFD60A"/>
                </a:solidFill>
                <a:latin typeface="Arial Black" pitchFamily="34" charset="0"/>
                <a:ea typeface="Arial Black" pitchFamily="34" charset="-122"/>
                <a:cs typeface="Arial Black" pitchFamily="34" charset="-120"/>
              </a:rPr>
              <a:t>02</a:t>
            </a:r>
            <a:endParaRPr lang="en-US" sz="2600" dirty="0"/>
          </a:p>
        </p:txBody>
      </p:sp>
      <p:sp>
        <p:nvSpPr>
          <p:cNvPr id="19" name="Text 17"/>
          <p:cNvSpPr/>
          <p:nvPr/>
        </p:nvSpPr>
        <p:spPr>
          <a:xfrm>
            <a:off x="3401568" y="1920240"/>
            <a:ext cx="2468880" cy="256032"/>
          </a:xfrm>
          <a:prstGeom prst="rect">
            <a:avLst/>
          </a:prstGeom>
          <a:noFill/>
          <a:ln/>
        </p:spPr>
        <p:txBody>
          <a:bodyPr wrap="square" lIns="0" tIns="0" rIns="0" bIns="0" rtlCol="0" anchor="ctr"/>
          <a:lstStyle/>
          <a:p>
            <a:pPr indent="0" marL="0">
              <a:buNone/>
            </a:pPr>
            <a:r>
              <a:rPr lang="en-US" sz="800" spc="200" kern="0" dirty="0">
                <a:solidFill>
                  <a:srgbClr val="FFD60A"/>
                </a:solidFill>
                <a:latin typeface="Calibri" pitchFamily="34" charset="0"/>
                <a:ea typeface="Calibri" pitchFamily="34" charset="-122"/>
                <a:cs typeface="Calibri" pitchFamily="34" charset="-120"/>
              </a:rPr>
              <a:t>MESES 4–9</a:t>
            </a:r>
            <a:endParaRPr lang="en-US" sz="800" dirty="0"/>
          </a:p>
        </p:txBody>
      </p:sp>
      <p:sp>
        <p:nvSpPr>
          <p:cNvPr id="20" name="Text 18"/>
          <p:cNvSpPr/>
          <p:nvPr/>
        </p:nvSpPr>
        <p:spPr>
          <a:xfrm>
            <a:off x="3401568" y="2212848"/>
            <a:ext cx="246888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EXPANSIÓN</a:t>
            </a:r>
            <a:endParaRPr lang="en-US" sz="1400" dirty="0"/>
          </a:p>
        </p:txBody>
      </p:sp>
      <p:sp>
        <p:nvSpPr>
          <p:cNvPr id="21" name="Shape 19"/>
          <p:cNvSpPr/>
          <p:nvPr/>
        </p:nvSpPr>
        <p:spPr>
          <a:xfrm>
            <a:off x="3401568" y="2679192"/>
            <a:ext cx="2468880" cy="274320"/>
          </a:xfrm>
          <a:prstGeom prst="rect">
            <a:avLst/>
          </a:prstGeom>
          <a:solidFill>
            <a:srgbClr val="181A1C"/>
          </a:solidFill>
          <a:ln w="12700">
            <a:solidFill>
              <a:srgbClr val="2A2D32"/>
            </a:solidFill>
            <a:prstDash val="solid"/>
          </a:ln>
        </p:spPr>
      </p:sp>
      <p:sp>
        <p:nvSpPr>
          <p:cNvPr id="22" name="Text 20"/>
          <p:cNvSpPr/>
          <p:nvPr/>
        </p:nvSpPr>
        <p:spPr>
          <a:xfrm>
            <a:off x="3447288" y="2706624"/>
            <a:ext cx="2377440" cy="219456"/>
          </a:xfrm>
          <a:prstGeom prst="rect">
            <a:avLst/>
          </a:prstGeom>
          <a:noFill/>
          <a:ln/>
        </p:spPr>
        <p:txBody>
          <a:bodyPr wrap="square" lIns="0" tIns="0" rIns="0" bIns="0" rtlCol="0" anchor="ctr"/>
          <a:lstStyle/>
          <a:p>
            <a:pPr indent="0" marL="0">
              <a:buNone/>
            </a:pPr>
            <a:r>
              <a:rPr lang="en-US" sz="900" b="1" dirty="0">
                <a:solidFill>
                  <a:srgbClr val="FFD60A"/>
                </a:solidFill>
                <a:latin typeface="Calibri" pitchFamily="34" charset="0"/>
                <a:ea typeface="Calibri" pitchFamily="34" charset="-122"/>
                <a:cs typeface="Calibri" pitchFamily="34" charset="-120"/>
              </a:rPr>
              <a:t>💰 $40M–$80M CLP</a:t>
            </a:r>
            <a:endParaRPr lang="en-US" sz="900" dirty="0"/>
          </a:p>
        </p:txBody>
      </p:sp>
      <p:sp>
        <p:nvSpPr>
          <p:cNvPr id="23" name="Text 21"/>
          <p:cNvSpPr/>
          <p:nvPr/>
        </p:nvSpPr>
        <p:spPr>
          <a:xfrm>
            <a:off x="3374136" y="3090672"/>
            <a:ext cx="2523744" cy="292608"/>
          </a:xfrm>
          <a:prstGeom prst="rect">
            <a:avLst/>
          </a:prstGeom>
          <a:noFill/>
          <a:ln/>
        </p:spPr>
        <p:txBody>
          <a:bodyPr wrap="square" lIns="0" tIns="0" rIns="0" bIns="0" rtlCol="0" anchor="ctr"/>
          <a:lstStyle/>
          <a:p>
            <a:pPr indent="0" marL="0">
              <a:buNone/>
            </a:pPr>
            <a:r>
              <a:rPr lang="en-US" sz="1000" b="1" dirty="0">
                <a:solidFill>
                  <a:srgbClr val="FFD60A"/>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ChileKart Racers con los 10 autos top</a:t>
            </a:r>
            <a:endParaRPr lang="en-US" sz="1000" dirty="0"/>
          </a:p>
        </p:txBody>
      </p:sp>
      <p:sp>
        <p:nvSpPr>
          <p:cNvPr id="24" name="Text 22"/>
          <p:cNvSpPr/>
          <p:nvPr/>
        </p:nvSpPr>
        <p:spPr>
          <a:xfrm>
            <a:off x="3374136" y="3429000"/>
            <a:ext cx="2523744" cy="292608"/>
          </a:xfrm>
          <a:prstGeom prst="rect">
            <a:avLst/>
          </a:prstGeom>
          <a:noFill/>
          <a:ln/>
        </p:spPr>
        <p:txBody>
          <a:bodyPr wrap="square" lIns="0" tIns="0" rIns="0" bIns="0" rtlCol="0" anchor="ctr"/>
          <a:lstStyle/>
          <a:p>
            <a:pPr indent="0" marL="0">
              <a:buNone/>
            </a:pPr>
            <a:r>
              <a:rPr lang="en-US" sz="1000" b="1" dirty="0">
                <a:solidFill>
                  <a:srgbClr val="FFD60A"/>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Primeras marcas patrocinadoras in-game</a:t>
            </a:r>
            <a:endParaRPr lang="en-US" sz="1000" dirty="0"/>
          </a:p>
        </p:txBody>
      </p:sp>
      <p:sp>
        <p:nvSpPr>
          <p:cNvPr id="25" name="Text 23"/>
          <p:cNvSpPr/>
          <p:nvPr/>
        </p:nvSpPr>
        <p:spPr>
          <a:xfrm>
            <a:off x="3374136" y="3767328"/>
            <a:ext cx="2523744" cy="292608"/>
          </a:xfrm>
          <a:prstGeom prst="rect">
            <a:avLst/>
          </a:prstGeom>
          <a:noFill/>
          <a:ln/>
        </p:spPr>
        <p:txBody>
          <a:bodyPr wrap="square" lIns="0" tIns="0" rIns="0" bIns="0" rtlCol="0" anchor="ctr"/>
          <a:lstStyle/>
          <a:p>
            <a:pPr indent="0" marL="0">
              <a:buNone/>
            </a:pPr>
            <a:r>
              <a:rPr lang="en-US" sz="1000" b="1" dirty="0">
                <a:solidFill>
                  <a:srgbClr val="FFD60A"/>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Mecánico Pro versión básica</a:t>
            </a:r>
            <a:endParaRPr lang="en-US" sz="1000" dirty="0"/>
          </a:p>
        </p:txBody>
      </p:sp>
      <p:sp>
        <p:nvSpPr>
          <p:cNvPr id="26" name="Text 24"/>
          <p:cNvSpPr/>
          <p:nvPr/>
        </p:nvSpPr>
        <p:spPr>
          <a:xfrm>
            <a:off x="3374136" y="4105656"/>
            <a:ext cx="2523744" cy="292608"/>
          </a:xfrm>
          <a:prstGeom prst="rect">
            <a:avLst/>
          </a:prstGeom>
          <a:noFill/>
          <a:ln/>
        </p:spPr>
        <p:txBody>
          <a:bodyPr wrap="square" lIns="0" tIns="0" rIns="0" bIns="0" rtlCol="0" anchor="ctr"/>
          <a:lstStyle/>
          <a:p>
            <a:pPr indent="0" marL="0">
              <a:buNone/>
            </a:pPr>
            <a:r>
              <a:rPr lang="en-US" sz="1000" b="1" dirty="0">
                <a:solidFill>
                  <a:srgbClr val="FFD60A"/>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Membresía Premium lanzada</a:t>
            </a:r>
            <a:endParaRPr lang="en-US" sz="1000" dirty="0"/>
          </a:p>
        </p:txBody>
      </p:sp>
      <p:sp>
        <p:nvSpPr>
          <p:cNvPr id="27" name="Shape 25"/>
          <p:cNvSpPr/>
          <p:nvPr/>
        </p:nvSpPr>
        <p:spPr>
          <a:xfrm>
            <a:off x="6208776" y="1325880"/>
            <a:ext cx="2743200" cy="3520440"/>
          </a:xfrm>
          <a:prstGeom prst="rect">
            <a:avLst/>
          </a:prstGeom>
          <a:solidFill>
            <a:srgbClr val="1E2124"/>
          </a:solidFill>
          <a:ln w="12700">
            <a:solidFill>
              <a:srgbClr val="2A2D32"/>
            </a:solidFill>
            <a:prstDash val="solid"/>
          </a:ln>
        </p:spPr>
      </p:sp>
      <p:sp>
        <p:nvSpPr>
          <p:cNvPr id="28" name="Shape 26"/>
          <p:cNvSpPr/>
          <p:nvPr/>
        </p:nvSpPr>
        <p:spPr>
          <a:xfrm>
            <a:off x="6208776" y="1325880"/>
            <a:ext cx="2743200" cy="73152"/>
          </a:xfrm>
          <a:prstGeom prst="rect">
            <a:avLst/>
          </a:prstGeom>
          <a:solidFill>
            <a:srgbClr val="00C896"/>
          </a:solidFill>
          <a:ln w="12700">
            <a:solidFill>
              <a:srgbClr val="00C896"/>
            </a:solidFill>
            <a:prstDash val="solid"/>
          </a:ln>
        </p:spPr>
      </p:sp>
      <p:sp>
        <p:nvSpPr>
          <p:cNvPr id="29" name="Text 27"/>
          <p:cNvSpPr/>
          <p:nvPr/>
        </p:nvSpPr>
        <p:spPr>
          <a:xfrm>
            <a:off x="6345936" y="1444752"/>
            <a:ext cx="548640" cy="457200"/>
          </a:xfrm>
          <a:prstGeom prst="rect">
            <a:avLst/>
          </a:prstGeom>
          <a:noFill/>
          <a:ln/>
        </p:spPr>
        <p:txBody>
          <a:bodyPr wrap="square" lIns="0" tIns="0" rIns="0" bIns="0" rtlCol="0" anchor="ctr"/>
          <a:lstStyle/>
          <a:p>
            <a:pPr indent="0" marL="0">
              <a:buNone/>
            </a:pPr>
            <a:r>
              <a:rPr lang="en-US" sz="2600" b="1" dirty="0">
                <a:solidFill>
                  <a:srgbClr val="00C896"/>
                </a:solidFill>
                <a:latin typeface="Arial Black" pitchFamily="34" charset="0"/>
                <a:ea typeface="Arial Black" pitchFamily="34" charset="-122"/>
                <a:cs typeface="Arial Black" pitchFamily="34" charset="-120"/>
              </a:rPr>
              <a:t>03</a:t>
            </a:r>
            <a:endParaRPr lang="en-US" sz="2600" dirty="0"/>
          </a:p>
        </p:txBody>
      </p:sp>
      <p:sp>
        <p:nvSpPr>
          <p:cNvPr id="30" name="Text 28"/>
          <p:cNvSpPr/>
          <p:nvPr/>
        </p:nvSpPr>
        <p:spPr>
          <a:xfrm>
            <a:off x="6345936" y="1920240"/>
            <a:ext cx="2468880" cy="256032"/>
          </a:xfrm>
          <a:prstGeom prst="rect">
            <a:avLst/>
          </a:prstGeom>
          <a:noFill/>
          <a:ln/>
        </p:spPr>
        <p:txBody>
          <a:bodyPr wrap="square" lIns="0" tIns="0" rIns="0" bIns="0" rtlCol="0" anchor="ctr"/>
          <a:lstStyle/>
          <a:p>
            <a:pPr indent="0" marL="0">
              <a:buNone/>
            </a:pPr>
            <a:r>
              <a:rPr lang="en-US" sz="800" spc="200" kern="0" dirty="0">
                <a:solidFill>
                  <a:srgbClr val="00C896"/>
                </a:solidFill>
                <a:latin typeface="Calibri" pitchFamily="34" charset="0"/>
                <a:ea typeface="Calibri" pitchFamily="34" charset="-122"/>
                <a:cs typeface="Calibri" pitchFamily="34" charset="-120"/>
              </a:rPr>
              <a:t>MESES 10–24</a:t>
            </a:r>
            <a:endParaRPr lang="en-US" sz="800" dirty="0"/>
          </a:p>
        </p:txBody>
      </p:sp>
      <p:sp>
        <p:nvSpPr>
          <p:cNvPr id="31" name="Text 29"/>
          <p:cNvSpPr/>
          <p:nvPr/>
        </p:nvSpPr>
        <p:spPr>
          <a:xfrm>
            <a:off x="6345936" y="2212848"/>
            <a:ext cx="246888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PLATAFORMA COMPLETA</a:t>
            </a:r>
            <a:endParaRPr lang="en-US" sz="1400" dirty="0"/>
          </a:p>
        </p:txBody>
      </p:sp>
      <p:sp>
        <p:nvSpPr>
          <p:cNvPr id="32" name="Shape 30"/>
          <p:cNvSpPr/>
          <p:nvPr/>
        </p:nvSpPr>
        <p:spPr>
          <a:xfrm>
            <a:off x="6345936" y="2679192"/>
            <a:ext cx="2468880" cy="274320"/>
          </a:xfrm>
          <a:prstGeom prst="rect">
            <a:avLst/>
          </a:prstGeom>
          <a:solidFill>
            <a:srgbClr val="181A1C"/>
          </a:solidFill>
          <a:ln w="12700">
            <a:solidFill>
              <a:srgbClr val="2A2D32"/>
            </a:solidFill>
            <a:prstDash val="solid"/>
          </a:ln>
        </p:spPr>
      </p:sp>
      <p:sp>
        <p:nvSpPr>
          <p:cNvPr id="33" name="Text 31"/>
          <p:cNvSpPr/>
          <p:nvPr/>
        </p:nvSpPr>
        <p:spPr>
          <a:xfrm>
            <a:off x="6391656" y="2706624"/>
            <a:ext cx="2377440" cy="219456"/>
          </a:xfrm>
          <a:prstGeom prst="rect">
            <a:avLst/>
          </a:prstGeom>
          <a:noFill/>
          <a:ln/>
        </p:spPr>
        <p:txBody>
          <a:bodyPr wrap="square" lIns="0" tIns="0" rIns="0" bIns="0" rtlCol="0" anchor="ctr"/>
          <a:lstStyle/>
          <a:p>
            <a:pPr indent="0" marL="0">
              <a:buNone/>
            </a:pPr>
            <a:r>
              <a:rPr lang="en-US" sz="900" b="1" dirty="0">
                <a:solidFill>
                  <a:srgbClr val="00C896"/>
                </a:solidFill>
                <a:latin typeface="Calibri" pitchFamily="34" charset="0"/>
                <a:ea typeface="Calibri" pitchFamily="34" charset="-122"/>
                <a:cs typeface="Calibri" pitchFamily="34" charset="-120"/>
              </a:rPr>
              <a:t>💰 $80M–$150M CLP</a:t>
            </a:r>
            <a:endParaRPr lang="en-US" sz="900" dirty="0"/>
          </a:p>
        </p:txBody>
      </p:sp>
      <p:sp>
        <p:nvSpPr>
          <p:cNvPr id="34" name="Text 32"/>
          <p:cNvSpPr/>
          <p:nvPr/>
        </p:nvSpPr>
        <p:spPr>
          <a:xfrm>
            <a:off x="6318504" y="3090672"/>
            <a:ext cx="2523744" cy="292608"/>
          </a:xfrm>
          <a:prstGeom prst="rect">
            <a:avLst/>
          </a:prstGeom>
          <a:noFill/>
          <a:ln/>
        </p:spPr>
        <p:txBody>
          <a:bodyPr wrap="square" lIns="0" tIns="0" rIns="0" bIns="0" rtlCol="0" anchor="ctr"/>
          <a:lstStyle/>
          <a:p>
            <a:pPr indent="0" marL="0">
              <a:buNone/>
            </a:pPr>
            <a:r>
              <a:rPr lang="en-US" sz="1000" b="1" dirty="0">
                <a:solidFill>
                  <a:srgbClr val="00C896"/>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Concesionaria Virtual + Álbum del Motorista</a:t>
            </a:r>
            <a:endParaRPr lang="en-US" sz="1000" dirty="0"/>
          </a:p>
        </p:txBody>
      </p:sp>
      <p:sp>
        <p:nvSpPr>
          <p:cNvPr id="35" name="Text 33"/>
          <p:cNvSpPr/>
          <p:nvPr/>
        </p:nvSpPr>
        <p:spPr>
          <a:xfrm>
            <a:off x="6318504" y="3429000"/>
            <a:ext cx="2523744" cy="292608"/>
          </a:xfrm>
          <a:prstGeom prst="rect">
            <a:avLst/>
          </a:prstGeom>
          <a:noFill/>
          <a:ln/>
        </p:spPr>
        <p:txBody>
          <a:bodyPr wrap="square" lIns="0" tIns="0" rIns="0" bIns="0" rtlCol="0" anchor="ctr"/>
          <a:lstStyle/>
          <a:p>
            <a:pPr indent="0" marL="0">
              <a:buNone/>
            </a:pPr>
            <a:r>
              <a:rPr lang="en-US" sz="1000" b="1" dirty="0">
                <a:solidFill>
                  <a:srgbClr val="00C896"/>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1er Torneo Nacional ChileAutos</a:t>
            </a:r>
            <a:endParaRPr lang="en-US" sz="1000" dirty="0"/>
          </a:p>
        </p:txBody>
      </p:sp>
      <p:sp>
        <p:nvSpPr>
          <p:cNvPr id="36" name="Text 34"/>
          <p:cNvSpPr/>
          <p:nvPr/>
        </p:nvSpPr>
        <p:spPr>
          <a:xfrm>
            <a:off x="6318504" y="3767328"/>
            <a:ext cx="2523744" cy="292608"/>
          </a:xfrm>
          <a:prstGeom prst="rect">
            <a:avLst/>
          </a:prstGeom>
          <a:noFill/>
          <a:ln/>
        </p:spPr>
        <p:txBody>
          <a:bodyPr wrap="square" lIns="0" tIns="0" rIns="0" bIns="0" rtlCol="0" anchor="ctr"/>
          <a:lstStyle/>
          <a:p>
            <a:pPr indent="0" marL="0">
              <a:buNone/>
            </a:pPr>
            <a:r>
              <a:rPr lang="en-US" sz="1000" b="1" dirty="0">
                <a:solidFill>
                  <a:srgbClr val="00C896"/>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API de datos B2B</a:t>
            </a:r>
            <a:endParaRPr lang="en-US" sz="1000" dirty="0"/>
          </a:p>
        </p:txBody>
      </p:sp>
      <p:sp>
        <p:nvSpPr>
          <p:cNvPr id="37" name="Text 35"/>
          <p:cNvSpPr/>
          <p:nvPr/>
        </p:nvSpPr>
        <p:spPr>
          <a:xfrm>
            <a:off x="6318504" y="4105656"/>
            <a:ext cx="2523744" cy="292608"/>
          </a:xfrm>
          <a:prstGeom prst="rect">
            <a:avLst/>
          </a:prstGeom>
          <a:noFill/>
          <a:ln/>
        </p:spPr>
        <p:txBody>
          <a:bodyPr wrap="square" lIns="0" tIns="0" rIns="0" bIns="0" rtlCol="0" anchor="ctr"/>
          <a:lstStyle/>
          <a:p>
            <a:pPr indent="0" marL="0">
              <a:buNone/>
            </a:pPr>
            <a:r>
              <a:rPr lang="en-US" sz="1000" b="1" dirty="0">
                <a:solidFill>
                  <a:srgbClr val="00C896"/>
                </a:solidFill>
                <a:latin typeface="Calibri" pitchFamily="34" charset="0"/>
                <a:ea typeface="Calibri" pitchFamily="34" charset="-122"/>
                <a:cs typeface="Calibri" pitchFamily="34" charset="-120"/>
              </a:rPr>
              <a:t>→  </a:t>
            </a:r>
            <a:pPr indent="0" marL="0">
              <a:buNone/>
            </a:pPr>
            <a:r>
              <a:rPr lang="en-US" sz="1000" dirty="0">
                <a:solidFill>
                  <a:srgbClr val="7A8090"/>
                </a:solidFill>
                <a:latin typeface="Calibri" pitchFamily="34" charset="0"/>
                <a:ea typeface="Calibri" pitchFamily="34" charset="-122"/>
                <a:cs typeface="Calibri" pitchFamily="34" charset="-120"/>
              </a:rPr>
              <a:t>App móvil nativa con notificaciones gamificadas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3"/>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7A8090"/>
          </a:solidFill>
          <a:ln w="12700">
            <a:solidFill>
              <a:srgbClr val="7A8090"/>
            </a:solidFill>
            <a:prstDash val="solid"/>
          </a:ln>
        </p:spPr>
      </p:sp>
      <p:sp>
        <p:nvSpPr>
          <p:cNvPr id="3" name="Text 1"/>
          <p:cNvSpPr/>
          <p:nvPr/>
        </p:nvSpPr>
        <p:spPr>
          <a:xfrm>
            <a:off x="320040" y="256032"/>
            <a:ext cx="8229600" cy="347472"/>
          </a:xfrm>
          <a:prstGeom prst="rect">
            <a:avLst/>
          </a:prstGeom>
          <a:noFill/>
          <a:ln/>
        </p:spPr>
        <p:txBody>
          <a:bodyPr wrap="square" lIns="0" tIns="0" rIns="0" bIns="0" rtlCol="0" anchor="ctr"/>
          <a:lstStyle/>
          <a:p>
            <a:pPr indent="0" marL="0">
              <a:buNone/>
            </a:pPr>
            <a:r>
              <a:rPr lang="en-US" sz="1000" spc="300" kern="0" dirty="0">
                <a:solidFill>
                  <a:srgbClr val="E8EAF0"/>
                </a:solidFill>
                <a:latin typeface="Arial Black" pitchFamily="34" charset="0"/>
                <a:ea typeface="Arial Black" pitchFamily="34" charset="-122"/>
                <a:cs typeface="Arial Black" pitchFamily="34" charset="-120"/>
              </a:rPr>
              <a:t>08 · RIESGOS Y MITIGACIONES</a:t>
            </a:r>
            <a:endParaRPr lang="en-US" sz="1000" dirty="0"/>
          </a:p>
        </p:txBody>
      </p:sp>
      <p:sp>
        <p:nvSpPr>
          <p:cNvPr id="4" name="Text 2"/>
          <p:cNvSpPr/>
          <p:nvPr/>
        </p:nvSpPr>
        <p:spPr>
          <a:xfrm>
            <a:off x="320040" y="658368"/>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Riesgos conocidos. Respuestas claras.</a:t>
            </a:r>
            <a:endParaRPr lang="en-US" sz="2200" dirty="0"/>
          </a:p>
        </p:txBody>
      </p:sp>
      <p:sp>
        <p:nvSpPr>
          <p:cNvPr id="5" name="Shape 3"/>
          <p:cNvSpPr/>
          <p:nvPr/>
        </p:nvSpPr>
        <p:spPr>
          <a:xfrm>
            <a:off x="320040" y="1325880"/>
            <a:ext cx="8503920" cy="777240"/>
          </a:xfrm>
          <a:prstGeom prst="rect">
            <a:avLst/>
          </a:prstGeom>
          <a:solidFill>
            <a:srgbClr val="1E2124"/>
          </a:solidFill>
          <a:ln w="12700">
            <a:solidFill>
              <a:srgbClr val="2A2D32"/>
            </a:solidFill>
            <a:prstDash val="solid"/>
          </a:ln>
        </p:spPr>
      </p:sp>
      <p:sp>
        <p:nvSpPr>
          <p:cNvPr id="6" name="Shape 4"/>
          <p:cNvSpPr/>
          <p:nvPr/>
        </p:nvSpPr>
        <p:spPr>
          <a:xfrm>
            <a:off x="320040" y="1325880"/>
            <a:ext cx="54864" cy="777240"/>
          </a:xfrm>
          <a:prstGeom prst="rect">
            <a:avLst/>
          </a:prstGeom>
          <a:solidFill>
            <a:srgbClr val="E8002D"/>
          </a:solidFill>
          <a:ln w="12700">
            <a:solidFill>
              <a:srgbClr val="E8002D"/>
            </a:solidFill>
            <a:prstDash val="solid"/>
          </a:ln>
        </p:spPr>
      </p:sp>
      <p:sp>
        <p:nvSpPr>
          <p:cNvPr id="7" name="Shape 5"/>
          <p:cNvSpPr/>
          <p:nvPr/>
        </p:nvSpPr>
        <p:spPr>
          <a:xfrm>
            <a:off x="502920" y="1527048"/>
            <a:ext cx="658368" cy="256032"/>
          </a:xfrm>
          <a:prstGeom prst="rect">
            <a:avLst/>
          </a:prstGeom>
          <a:solidFill>
            <a:srgbClr val="E8002D">
              <a:alpha val="20000"/>
            </a:srgbClr>
          </a:solidFill>
          <a:ln w="12700">
            <a:solidFill>
              <a:srgbClr val="E8002D">
                <a:alpha val="50000"/>
              </a:srgbClr>
            </a:solidFill>
            <a:prstDash val="solid"/>
          </a:ln>
        </p:spPr>
      </p:sp>
      <p:sp>
        <p:nvSpPr>
          <p:cNvPr id="8" name="Text 6"/>
          <p:cNvSpPr/>
          <p:nvPr/>
        </p:nvSpPr>
        <p:spPr>
          <a:xfrm>
            <a:off x="502920" y="1527048"/>
            <a:ext cx="658368" cy="256032"/>
          </a:xfrm>
          <a:prstGeom prst="rect">
            <a:avLst/>
          </a:prstGeom>
          <a:noFill/>
          <a:ln/>
        </p:spPr>
        <p:txBody>
          <a:bodyPr wrap="square" lIns="0" tIns="0" rIns="0" bIns="0" rtlCol="0" anchor="ctr"/>
          <a:lstStyle/>
          <a:p>
            <a:pPr algn="ctr" indent="0" marL="0">
              <a:buNone/>
            </a:pPr>
            <a:r>
              <a:rPr lang="en-US" sz="700" b="1" spc="100" kern="0" dirty="0">
                <a:solidFill>
                  <a:srgbClr val="E8002D"/>
                </a:solidFill>
                <a:latin typeface="Calibri" pitchFamily="34" charset="0"/>
                <a:ea typeface="Calibri" pitchFamily="34" charset="-122"/>
                <a:cs typeface="Calibri" pitchFamily="34" charset="-120"/>
              </a:rPr>
              <a:t>ALTO</a:t>
            </a:r>
            <a:endParaRPr lang="en-US" sz="700" dirty="0"/>
          </a:p>
        </p:txBody>
      </p:sp>
      <p:sp>
        <p:nvSpPr>
          <p:cNvPr id="9" name="Text 7"/>
          <p:cNvSpPr/>
          <p:nvPr/>
        </p:nvSpPr>
        <p:spPr>
          <a:xfrm>
            <a:off x="1325880" y="1417320"/>
            <a:ext cx="2743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Costo de desarrollo</a:t>
            </a:r>
            <a:endParaRPr lang="en-US" sz="1200" dirty="0"/>
          </a:p>
        </p:txBody>
      </p:sp>
      <p:sp>
        <p:nvSpPr>
          <p:cNvPr id="10" name="Text 8"/>
          <p:cNvSpPr/>
          <p:nvPr/>
        </p:nvSpPr>
        <p:spPr>
          <a:xfrm>
            <a:off x="1325880" y="1728216"/>
            <a:ext cx="7315200" cy="32004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Mitigación: Comenzar con HTML5 de bajo costo. Escalar solo con resultados probados. Externalizar a estudio especializado en juegos de marca.</a:t>
            </a:r>
            <a:endParaRPr lang="en-US" sz="1000" dirty="0"/>
          </a:p>
        </p:txBody>
      </p:sp>
      <p:sp>
        <p:nvSpPr>
          <p:cNvPr id="11" name="Shape 9"/>
          <p:cNvSpPr/>
          <p:nvPr/>
        </p:nvSpPr>
        <p:spPr>
          <a:xfrm>
            <a:off x="320040" y="2240280"/>
            <a:ext cx="8503920" cy="777240"/>
          </a:xfrm>
          <a:prstGeom prst="rect">
            <a:avLst/>
          </a:prstGeom>
          <a:solidFill>
            <a:srgbClr val="1E2124"/>
          </a:solidFill>
          <a:ln w="12700">
            <a:solidFill>
              <a:srgbClr val="2A2D32"/>
            </a:solidFill>
            <a:prstDash val="solid"/>
          </a:ln>
        </p:spPr>
      </p:sp>
      <p:sp>
        <p:nvSpPr>
          <p:cNvPr id="12" name="Shape 10"/>
          <p:cNvSpPr/>
          <p:nvPr/>
        </p:nvSpPr>
        <p:spPr>
          <a:xfrm>
            <a:off x="320040" y="2240280"/>
            <a:ext cx="54864" cy="777240"/>
          </a:xfrm>
          <a:prstGeom prst="rect">
            <a:avLst/>
          </a:prstGeom>
          <a:solidFill>
            <a:srgbClr val="FFD60A"/>
          </a:solidFill>
          <a:ln w="12700">
            <a:solidFill>
              <a:srgbClr val="FFD60A"/>
            </a:solidFill>
            <a:prstDash val="solid"/>
          </a:ln>
        </p:spPr>
      </p:sp>
      <p:sp>
        <p:nvSpPr>
          <p:cNvPr id="13" name="Shape 11"/>
          <p:cNvSpPr/>
          <p:nvPr/>
        </p:nvSpPr>
        <p:spPr>
          <a:xfrm>
            <a:off x="502920" y="2441448"/>
            <a:ext cx="658368" cy="256032"/>
          </a:xfrm>
          <a:prstGeom prst="rect">
            <a:avLst/>
          </a:prstGeom>
          <a:solidFill>
            <a:srgbClr val="FFD60A">
              <a:alpha val="20000"/>
            </a:srgbClr>
          </a:solidFill>
          <a:ln w="12700">
            <a:solidFill>
              <a:srgbClr val="FFD60A">
                <a:alpha val="50000"/>
              </a:srgbClr>
            </a:solidFill>
            <a:prstDash val="solid"/>
          </a:ln>
        </p:spPr>
      </p:sp>
      <p:sp>
        <p:nvSpPr>
          <p:cNvPr id="14" name="Text 12"/>
          <p:cNvSpPr/>
          <p:nvPr/>
        </p:nvSpPr>
        <p:spPr>
          <a:xfrm>
            <a:off x="502920" y="2441448"/>
            <a:ext cx="658368" cy="256032"/>
          </a:xfrm>
          <a:prstGeom prst="rect">
            <a:avLst/>
          </a:prstGeom>
          <a:noFill/>
          <a:ln/>
        </p:spPr>
        <p:txBody>
          <a:bodyPr wrap="square" lIns="0" tIns="0" rIns="0" bIns="0" rtlCol="0" anchor="ctr"/>
          <a:lstStyle/>
          <a:p>
            <a:pPr algn="ctr" indent="0" marL="0">
              <a:buNone/>
            </a:pPr>
            <a:r>
              <a:rPr lang="en-US" sz="700" b="1" spc="100" kern="0" dirty="0">
                <a:solidFill>
                  <a:srgbClr val="FFD60A"/>
                </a:solidFill>
                <a:latin typeface="Calibri" pitchFamily="34" charset="0"/>
                <a:ea typeface="Calibri" pitchFamily="34" charset="-122"/>
                <a:cs typeface="Calibri" pitchFamily="34" charset="-120"/>
              </a:rPr>
              <a:t>MEDIO</a:t>
            </a:r>
            <a:endParaRPr lang="en-US" sz="700" dirty="0"/>
          </a:p>
        </p:txBody>
      </p:sp>
      <p:sp>
        <p:nvSpPr>
          <p:cNvPr id="15" name="Text 13"/>
          <p:cNvSpPr/>
          <p:nvPr/>
        </p:nvSpPr>
        <p:spPr>
          <a:xfrm>
            <a:off x="1325880" y="2331720"/>
            <a:ext cx="2743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Dilución del foco transaccional</a:t>
            </a:r>
            <a:endParaRPr lang="en-US" sz="1200" dirty="0"/>
          </a:p>
        </p:txBody>
      </p:sp>
      <p:sp>
        <p:nvSpPr>
          <p:cNvPr id="16" name="Text 14"/>
          <p:cNvSpPr/>
          <p:nvPr/>
        </p:nvSpPr>
        <p:spPr>
          <a:xfrm>
            <a:off x="1325880" y="2642616"/>
            <a:ext cx="7315200" cy="32004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Mitigación: Los juegos residen en sección dedicada. Cada mecánica tiene CTA directo al catálogo. Nunca interrumpir el flujo de compra.</a:t>
            </a:r>
            <a:endParaRPr lang="en-US" sz="1000" dirty="0"/>
          </a:p>
        </p:txBody>
      </p:sp>
      <p:sp>
        <p:nvSpPr>
          <p:cNvPr id="17" name="Shape 15"/>
          <p:cNvSpPr/>
          <p:nvPr/>
        </p:nvSpPr>
        <p:spPr>
          <a:xfrm>
            <a:off x="320040" y="3154680"/>
            <a:ext cx="8503920" cy="777240"/>
          </a:xfrm>
          <a:prstGeom prst="rect">
            <a:avLst/>
          </a:prstGeom>
          <a:solidFill>
            <a:srgbClr val="1E2124"/>
          </a:solidFill>
          <a:ln w="12700">
            <a:solidFill>
              <a:srgbClr val="2A2D32"/>
            </a:solidFill>
            <a:prstDash val="solid"/>
          </a:ln>
        </p:spPr>
      </p:sp>
      <p:sp>
        <p:nvSpPr>
          <p:cNvPr id="18" name="Shape 16"/>
          <p:cNvSpPr/>
          <p:nvPr/>
        </p:nvSpPr>
        <p:spPr>
          <a:xfrm>
            <a:off x="320040" y="3154680"/>
            <a:ext cx="54864" cy="777240"/>
          </a:xfrm>
          <a:prstGeom prst="rect">
            <a:avLst/>
          </a:prstGeom>
          <a:solidFill>
            <a:srgbClr val="FFD60A"/>
          </a:solidFill>
          <a:ln w="12700">
            <a:solidFill>
              <a:srgbClr val="FFD60A"/>
            </a:solidFill>
            <a:prstDash val="solid"/>
          </a:ln>
        </p:spPr>
      </p:sp>
      <p:sp>
        <p:nvSpPr>
          <p:cNvPr id="19" name="Shape 17"/>
          <p:cNvSpPr/>
          <p:nvPr/>
        </p:nvSpPr>
        <p:spPr>
          <a:xfrm>
            <a:off x="502920" y="3355848"/>
            <a:ext cx="658368" cy="256032"/>
          </a:xfrm>
          <a:prstGeom prst="rect">
            <a:avLst/>
          </a:prstGeom>
          <a:solidFill>
            <a:srgbClr val="FFD60A">
              <a:alpha val="20000"/>
            </a:srgbClr>
          </a:solidFill>
          <a:ln w="12700">
            <a:solidFill>
              <a:srgbClr val="FFD60A">
                <a:alpha val="50000"/>
              </a:srgbClr>
            </a:solidFill>
            <a:prstDash val="solid"/>
          </a:ln>
        </p:spPr>
      </p:sp>
      <p:sp>
        <p:nvSpPr>
          <p:cNvPr id="20" name="Text 18"/>
          <p:cNvSpPr/>
          <p:nvPr/>
        </p:nvSpPr>
        <p:spPr>
          <a:xfrm>
            <a:off x="502920" y="3355848"/>
            <a:ext cx="658368" cy="256032"/>
          </a:xfrm>
          <a:prstGeom prst="rect">
            <a:avLst/>
          </a:prstGeom>
          <a:noFill/>
          <a:ln/>
        </p:spPr>
        <p:txBody>
          <a:bodyPr wrap="square" lIns="0" tIns="0" rIns="0" bIns="0" rtlCol="0" anchor="ctr"/>
          <a:lstStyle/>
          <a:p>
            <a:pPr algn="ctr" indent="0" marL="0">
              <a:buNone/>
            </a:pPr>
            <a:r>
              <a:rPr lang="en-US" sz="700" b="1" spc="100" kern="0" dirty="0">
                <a:solidFill>
                  <a:srgbClr val="FFD60A"/>
                </a:solidFill>
                <a:latin typeface="Calibri" pitchFamily="34" charset="0"/>
                <a:ea typeface="Calibri" pitchFamily="34" charset="-122"/>
                <a:cs typeface="Calibri" pitchFamily="34" charset="-120"/>
              </a:rPr>
              <a:t>MEDIO</a:t>
            </a:r>
            <a:endParaRPr lang="en-US" sz="700" dirty="0"/>
          </a:p>
        </p:txBody>
      </p:sp>
      <p:sp>
        <p:nvSpPr>
          <p:cNvPr id="21" name="Text 19"/>
          <p:cNvSpPr/>
          <p:nvPr/>
        </p:nvSpPr>
        <p:spPr>
          <a:xfrm>
            <a:off x="1325880" y="3246120"/>
            <a:ext cx="2743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Rechazo del segmento adulto mayor</a:t>
            </a:r>
            <a:endParaRPr lang="en-US" sz="1200" dirty="0"/>
          </a:p>
        </p:txBody>
      </p:sp>
      <p:sp>
        <p:nvSpPr>
          <p:cNvPr id="22" name="Text 20"/>
          <p:cNvSpPr/>
          <p:nvPr/>
        </p:nvSpPr>
        <p:spPr>
          <a:xfrm>
            <a:off x="1325880" y="3557016"/>
            <a:ext cx="7315200" cy="32004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Mitigación: La sección de juegos es opcional y discreta. El flujo principal del sitio no cambia en nada.</a:t>
            </a:r>
            <a:endParaRPr lang="en-US" sz="1000" dirty="0"/>
          </a:p>
        </p:txBody>
      </p:sp>
      <p:sp>
        <p:nvSpPr>
          <p:cNvPr id="23" name="Shape 21"/>
          <p:cNvSpPr/>
          <p:nvPr/>
        </p:nvSpPr>
        <p:spPr>
          <a:xfrm>
            <a:off x="320040" y="4069080"/>
            <a:ext cx="8503920" cy="777240"/>
          </a:xfrm>
          <a:prstGeom prst="rect">
            <a:avLst/>
          </a:prstGeom>
          <a:solidFill>
            <a:srgbClr val="1E2124"/>
          </a:solidFill>
          <a:ln w="12700">
            <a:solidFill>
              <a:srgbClr val="2A2D32"/>
            </a:solidFill>
            <a:prstDash val="solid"/>
          </a:ln>
        </p:spPr>
      </p:sp>
      <p:sp>
        <p:nvSpPr>
          <p:cNvPr id="24" name="Shape 22"/>
          <p:cNvSpPr/>
          <p:nvPr/>
        </p:nvSpPr>
        <p:spPr>
          <a:xfrm>
            <a:off x="320040" y="4069080"/>
            <a:ext cx="54864" cy="777240"/>
          </a:xfrm>
          <a:prstGeom prst="rect">
            <a:avLst/>
          </a:prstGeom>
          <a:solidFill>
            <a:srgbClr val="00C896"/>
          </a:solidFill>
          <a:ln w="12700">
            <a:solidFill>
              <a:srgbClr val="00C896"/>
            </a:solidFill>
            <a:prstDash val="solid"/>
          </a:ln>
        </p:spPr>
      </p:sp>
      <p:sp>
        <p:nvSpPr>
          <p:cNvPr id="25" name="Shape 23"/>
          <p:cNvSpPr/>
          <p:nvPr/>
        </p:nvSpPr>
        <p:spPr>
          <a:xfrm>
            <a:off x="502920" y="4270248"/>
            <a:ext cx="658368" cy="256032"/>
          </a:xfrm>
          <a:prstGeom prst="rect">
            <a:avLst/>
          </a:prstGeom>
          <a:solidFill>
            <a:srgbClr val="00C896">
              <a:alpha val="20000"/>
            </a:srgbClr>
          </a:solidFill>
          <a:ln w="12700">
            <a:solidFill>
              <a:srgbClr val="00C896">
                <a:alpha val="50000"/>
              </a:srgbClr>
            </a:solidFill>
            <a:prstDash val="solid"/>
          </a:ln>
        </p:spPr>
      </p:sp>
      <p:sp>
        <p:nvSpPr>
          <p:cNvPr id="26" name="Text 24"/>
          <p:cNvSpPr/>
          <p:nvPr/>
        </p:nvSpPr>
        <p:spPr>
          <a:xfrm>
            <a:off x="502920" y="4270248"/>
            <a:ext cx="658368" cy="256032"/>
          </a:xfrm>
          <a:prstGeom prst="rect">
            <a:avLst/>
          </a:prstGeom>
          <a:noFill/>
          <a:ln/>
        </p:spPr>
        <p:txBody>
          <a:bodyPr wrap="square" lIns="0" tIns="0" rIns="0" bIns="0" rtlCol="0" anchor="ctr"/>
          <a:lstStyle/>
          <a:p>
            <a:pPr algn="ctr" indent="0" marL="0">
              <a:buNone/>
            </a:pPr>
            <a:r>
              <a:rPr lang="en-US" sz="700" b="1" spc="100" kern="0" dirty="0">
                <a:solidFill>
                  <a:srgbClr val="00C896"/>
                </a:solidFill>
                <a:latin typeface="Calibri" pitchFamily="34" charset="0"/>
                <a:ea typeface="Calibri" pitchFamily="34" charset="-122"/>
                <a:cs typeface="Calibri" pitchFamily="34" charset="-120"/>
              </a:rPr>
              <a:t>BAJO</a:t>
            </a:r>
            <a:endParaRPr lang="en-US" sz="700" dirty="0"/>
          </a:p>
        </p:txBody>
      </p:sp>
      <p:sp>
        <p:nvSpPr>
          <p:cNvPr id="27" name="Text 25"/>
          <p:cNvSpPr/>
          <p:nvPr/>
        </p:nvSpPr>
        <p:spPr>
          <a:xfrm>
            <a:off x="1325880" y="4160520"/>
            <a:ext cx="274320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Competidores que copian la idea</a:t>
            </a:r>
            <a:endParaRPr lang="en-US" sz="1200" dirty="0"/>
          </a:p>
        </p:txBody>
      </p:sp>
      <p:sp>
        <p:nvSpPr>
          <p:cNvPr id="28" name="Text 26"/>
          <p:cNvSpPr/>
          <p:nvPr/>
        </p:nvSpPr>
        <p:spPr>
          <a:xfrm>
            <a:off x="1325880" y="4471416"/>
            <a:ext cx="7315200" cy="320040"/>
          </a:xfrm>
          <a:prstGeom prst="rect">
            <a:avLst/>
          </a:prstGeom>
          <a:noFill/>
          <a:ln/>
        </p:spPr>
        <p:txBody>
          <a:bodyPr wrap="square" lIns="0" tIns="0" rIns="0" bIns="0" rtlCol="0" anchor="ctr"/>
          <a:lstStyle/>
          <a:p>
            <a:pPr indent="0" marL="0">
              <a:buNone/>
            </a:pPr>
            <a:r>
              <a:rPr lang="en-US" sz="1000" dirty="0">
                <a:solidFill>
                  <a:srgbClr val="7A8090"/>
                </a:solidFill>
                <a:latin typeface="Calibri" pitchFamily="34" charset="0"/>
                <a:ea typeface="Calibri" pitchFamily="34" charset="-122"/>
                <a:cs typeface="Calibri" pitchFamily="34" charset="-120"/>
              </a:rPr>
              <a:t>Mitigación: Ser first mover en 90 días establece posición. La ventaja de datos acumulados es difícil de replicar rápido.</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1828800" y="-1371600"/>
            <a:ext cx="5486400" cy="5486400"/>
          </a:xfrm>
          <a:prstGeom prst="ellipse">
            <a:avLst/>
          </a:prstGeom>
          <a:solidFill>
            <a:srgbClr val="E8002D">
              <a:alpha val="10000"/>
            </a:srgbClr>
          </a:solidFill>
          <a:ln w="12700">
            <a:solidFill>
              <a:srgbClr val="E8002D">
                <a:alpha val="10000"/>
              </a:srgbClr>
            </a:solidFill>
            <a:prstDash val="solid"/>
          </a:ln>
        </p:spPr>
      </p:sp>
      <p:sp>
        <p:nvSpPr>
          <p:cNvPr id="3" name="Text 1"/>
          <p:cNvSpPr/>
          <p:nvPr/>
        </p:nvSpPr>
        <p:spPr>
          <a:xfrm>
            <a:off x="457200" y="274320"/>
            <a:ext cx="8229600" cy="347472"/>
          </a:xfrm>
          <a:prstGeom prst="rect">
            <a:avLst/>
          </a:prstGeom>
          <a:noFill/>
          <a:ln/>
        </p:spPr>
        <p:txBody>
          <a:bodyPr wrap="square" lIns="0" tIns="0" rIns="0" bIns="0" rtlCol="0" anchor="ctr"/>
          <a:lstStyle/>
          <a:p>
            <a:pPr algn="ctr" indent="0" marL="0">
              <a:buNone/>
            </a:pPr>
            <a:r>
              <a:rPr lang="en-US" sz="1000" spc="300" kern="0" dirty="0">
                <a:solidFill>
                  <a:srgbClr val="E8002D"/>
                </a:solidFill>
                <a:latin typeface="Arial Black" pitchFamily="34" charset="0"/>
                <a:ea typeface="Arial Black" pitchFamily="34" charset="-122"/>
                <a:cs typeface="Arial Black" pitchFamily="34" charset="-120"/>
              </a:rPr>
              <a:t>09 · VEREDICTO</a:t>
            </a:r>
            <a:endParaRPr lang="en-US" sz="1000" dirty="0"/>
          </a:p>
        </p:txBody>
      </p:sp>
      <p:sp>
        <p:nvSpPr>
          <p:cNvPr id="4" name="Text 2"/>
          <p:cNvSpPr/>
          <p:nvPr/>
        </p:nvSpPr>
        <p:spPr>
          <a:xfrm>
            <a:off x="457200" y="749808"/>
            <a:ext cx="8229600" cy="182880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Black" pitchFamily="34" charset="0"/>
                <a:ea typeface="Arial Black" pitchFamily="34" charset="-122"/>
                <a:cs typeface="Arial Black" pitchFamily="34" charset="-120"/>
              </a:rPr>
              <a:t>ChileAutos puede ser el primer</a:t>
            </a:r>
            <a:endParaRPr lang="en-US" sz="3400" dirty="0"/>
          </a:p>
          <a:p>
            <a:pPr algn="ctr" indent="0" marL="0">
              <a:buNone/>
            </a:pPr>
            <a:r>
              <a:rPr lang="en-US" sz="3400" b="1" dirty="0">
                <a:solidFill>
                  <a:srgbClr val="FFFFFF"/>
                </a:solidFill>
                <a:latin typeface="Arial Black" pitchFamily="34" charset="0"/>
                <a:ea typeface="Arial Black" pitchFamily="34" charset="-122"/>
                <a:cs typeface="Arial Black" pitchFamily="34" charset="-120"/>
              </a:rPr>
              <a:t>"GameCommerce" automotriz</a:t>
            </a:r>
            <a:endParaRPr lang="en-US" sz="3400" dirty="0"/>
          </a:p>
          <a:p>
            <a:pPr algn="ctr" indent="0" marL="0">
              <a:buNone/>
            </a:pPr>
            <a:r>
              <a:rPr lang="en-US" sz="3400" b="1" dirty="0">
                <a:solidFill>
                  <a:srgbClr val="FFFFFF"/>
                </a:solidFill>
                <a:latin typeface="Arial Black" pitchFamily="34" charset="0"/>
                <a:ea typeface="Arial Black" pitchFamily="34" charset="-122"/>
                <a:cs typeface="Arial Black" pitchFamily="34" charset="-120"/>
              </a:rPr>
              <a:t>de Latinoamérica</a:t>
            </a:r>
            <a:endParaRPr lang="en-US" sz="3400" dirty="0"/>
          </a:p>
        </p:txBody>
      </p:sp>
      <p:sp>
        <p:nvSpPr>
          <p:cNvPr id="5" name="Shape 3"/>
          <p:cNvSpPr/>
          <p:nvPr/>
        </p:nvSpPr>
        <p:spPr>
          <a:xfrm>
            <a:off x="457200" y="2834640"/>
            <a:ext cx="2651760" cy="1371600"/>
          </a:xfrm>
          <a:prstGeom prst="rect">
            <a:avLst/>
          </a:prstGeom>
          <a:solidFill>
            <a:srgbClr val="181A1C"/>
          </a:solidFill>
          <a:ln w="12700">
            <a:solidFill>
              <a:srgbClr val="2A2D32"/>
            </a:solidFill>
            <a:prstDash val="solid"/>
          </a:ln>
        </p:spPr>
      </p:sp>
      <p:sp>
        <p:nvSpPr>
          <p:cNvPr id="6" name="Shape 4"/>
          <p:cNvSpPr/>
          <p:nvPr/>
        </p:nvSpPr>
        <p:spPr>
          <a:xfrm>
            <a:off x="457200" y="2834640"/>
            <a:ext cx="2651760" cy="54864"/>
          </a:xfrm>
          <a:prstGeom prst="rect">
            <a:avLst/>
          </a:prstGeom>
          <a:solidFill>
            <a:srgbClr val="E8002D"/>
          </a:solidFill>
          <a:ln w="12700">
            <a:solidFill>
              <a:srgbClr val="E8002D"/>
            </a:solidFill>
            <a:prstDash val="solid"/>
          </a:ln>
        </p:spPr>
      </p:sp>
      <p:sp>
        <p:nvSpPr>
          <p:cNvPr id="7" name="Text 5"/>
          <p:cNvSpPr/>
          <p:nvPr/>
        </p:nvSpPr>
        <p:spPr>
          <a:xfrm>
            <a:off x="457200" y="2944368"/>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8" name="Text 6"/>
          <p:cNvSpPr/>
          <p:nvPr/>
        </p:nvSpPr>
        <p:spPr>
          <a:xfrm>
            <a:off x="457200" y="3401568"/>
            <a:ext cx="2651760" cy="685800"/>
          </a:xfrm>
          <a:prstGeom prst="rect">
            <a:avLst/>
          </a:prstGeom>
          <a:noFill/>
          <a:ln/>
        </p:spPr>
        <p:txBody>
          <a:bodyPr wrap="square" lIns="0" tIns="0" rIns="0" bIns="0" rtlCol="0" anchor="ctr"/>
          <a:lstStyle/>
          <a:p>
            <a:pPr algn="ctr" indent="0" marL="0">
              <a:buNone/>
            </a:pPr>
            <a:r>
              <a:rPr lang="en-US" sz="1100" dirty="0">
                <a:solidFill>
                  <a:srgbClr val="E8EAF0"/>
                </a:solidFill>
                <a:latin typeface="Calibri" pitchFamily="34" charset="0"/>
                <a:ea typeface="Calibri" pitchFamily="34" charset="-122"/>
                <a:cs typeface="Calibri" pitchFamily="34" charset="-120"/>
              </a:rPr>
              <a:t>Ventana de 12–18 meses</a:t>
            </a:r>
            <a:endParaRPr lang="en-US" sz="1100" dirty="0"/>
          </a:p>
          <a:p>
            <a:pPr algn="ctr" indent="0" marL="0">
              <a:buNone/>
            </a:pPr>
            <a:r>
              <a:rPr lang="en-US" sz="1100" dirty="0">
                <a:solidFill>
                  <a:srgbClr val="E8EAF0"/>
                </a:solidFill>
                <a:latin typeface="Calibri" pitchFamily="34" charset="0"/>
                <a:ea typeface="Calibri" pitchFamily="34" charset="-122"/>
                <a:cs typeface="Calibri" pitchFamily="34" charset="-120"/>
              </a:rPr>
              <a:t>antes que la competencia</a:t>
            </a:r>
            <a:endParaRPr lang="en-US" sz="1100" dirty="0"/>
          </a:p>
        </p:txBody>
      </p:sp>
      <p:sp>
        <p:nvSpPr>
          <p:cNvPr id="9" name="Shape 7"/>
          <p:cNvSpPr/>
          <p:nvPr/>
        </p:nvSpPr>
        <p:spPr>
          <a:xfrm>
            <a:off x="3355848" y="2834640"/>
            <a:ext cx="2651760" cy="1371600"/>
          </a:xfrm>
          <a:prstGeom prst="rect">
            <a:avLst/>
          </a:prstGeom>
          <a:solidFill>
            <a:srgbClr val="181A1C"/>
          </a:solidFill>
          <a:ln w="12700">
            <a:solidFill>
              <a:srgbClr val="2A2D32"/>
            </a:solidFill>
            <a:prstDash val="solid"/>
          </a:ln>
        </p:spPr>
      </p:sp>
      <p:sp>
        <p:nvSpPr>
          <p:cNvPr id="10" name="Shape 8"/>
          <p:cNvSpPr/>
          <p:nvPr/>
        </p:nvSpPr>
        <p:spPr>
          <a:xfrm>
            <a:off x="3355848" y="2834640"/>
            <a:ext cx="2651760" cy="54864"/>
          </a:xfrm>
          <a:prstGeom prst="rect">
            <a:avLst/>
          </a:prstGeom>
          <a:solidFill>
            <a:srgbClr val="E8002D"/>
          </a:solidFill>
          <a:ln w="12700">
            <a:solidFill>
              <a:srgbClr val="E8002D"/>
            </a:solidFill>
            <a:prstDash val="solid"/>
          </a:ln>
        </p:spPr>
      </p:sp>
      <p:sp>
        <p:nvSpPr>
          <p:cNvPr id="11" name="Text 9"/>
          <p:cNvSpPr/>
          <p:nvPr/>
        </p:nvSpPr>
        <p:spPr>
          <a:xfrm>
            <a:off x="3355848" y="2944368"/>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3355848" y="3401568"/>
            <a:ext cx="2651760" cy="685800"/>
          </a:xfrm>
          <a:prstGeom prst="rect">
            <a:avLst/>
          </a:prstGeom>
          <a:noFill/>
          <a:ln/>
        </p:spPr>
        <p:txBody>
          <a:bodyPr wrap="square" lIns="0" tIns="0" rIns="0" bIns="0" rtlCol="0" anchor="ctr"/>
          <a:lstStyle/>
          <a:p>
            <a:pPr algn="ctr" indent="0" marL="0">
              <a:buNone/>
            </a:pPr>
            <a:r>
              <a:rPr lang="en-US" sz="1100" dirty="0">
                <a:solidFill>
                  <a:srgbClr val="E8EAF0"/>
                </a:solidFill>
                <a:latin typeface="Calibri" pitchFamily="34" charset="0"/>
                <a:ea typeface="Calibri" pitchFamily="34" charset="-122"/>
                <a:cs typeface="Calibri" pitchFamily="34" charset="-120"/>
              </a:rPr>
              <a:t>MVP listo en 90 días</a:t>
            </a:r>
            <a:endParaRPr lang="en-US" sz="1100" dirty="0"/>
          </a:p>
          <a:p>
            <a:pPr algn="ctr" indent="0" marL="0">
              <a:buNone/>
            </a:pPr>
            <a:r>
              <a:rPr lang="en-US" sz="1100" dirty="0">
                <a:solidFill>
                  <a:srgbClr val="E8EAF0"/>
                </a:solidFill>
                <a:latin typeface="Calibri" pitchFamily="34" charset="0"/>
                <a:ea typeface="Calibri" pitchFamily="34" charset="-122"/>
                <a:cs typeface="Calibri" pitchFamily="34" charset="-120"/>
              </a:rPr>
              <a:t>con inversión mínima</a:t>
            </a:r>
            <a:endParaRPr lang="en-US" sz="1100" dirty="0"/>
          </a:p>
        </p:txBody>
      </p:sp>
      <p:sp>
        <p:nvSpPr>
          <p:cNvPr id="13" name="Shape 11"/>
          <p:cNvSpPr/>
          <p:nvPr/>
        </p:nvSpPr>
        <p:spPr>
          <a:xfrm>
            <a:off x="6254496" y="2834640"/>
            <a:ext cx="2651760" cy="1371600"/>
          </a:xfrm>
          <a:prstGeom prst="rect">
            <a:avLst/>
          </a:prstGeom>
          <a:solidFill>
            <a:srgbClr val="181A1C"/>
          </a:solidFill>
          <a:ln w="12700">
            <a:solidFill>
              <a:srgbClr val="2A2D32"/>
            </a:solidFill>
            <a:prstDash val="solid"/>
          </a:ln>
        </p:spPr>
      </p:sp>
      <p:sp>
        <p:nvSpPr>
          <p:cNvPr id="14" name="Shape 12"/>
          <p:cNvSpPr/>
          <p:nvPr/>
        </p:nvSpPr>
        <p:spPr>
          <a:xfrm>
            <a:off x="6254496" y="2834640"/>
            <a:ext cx="2651760" cy="54864"/>
          </a:xfrm>
          <a:prstGeom prst="rect">
            <a:avLst/>
          </a:prstGeom>
          <a:solidFill>
            <a:srgbClr val="E8002D"/>
          </a:solidFill>
          <a:ln w="12700">
            <a:solidFill>
              <a:srgbClr val="E8002D"/>
            </a:solidFill>
            <a:prstDash val="solid"/>
          </a:ln>
        </p:spPr>
      </p:sp>
      <p:sp>
        <p:nvSpPr>
          <p:cNvPr id="15" name="Text 13"/>
          <p:cNvSpPr/>
          <p:nvPr/>
        </p:nvSpPr>
        <p:spPr>
          <a:xfrm>
            <a:off x="6254496" y="2944368"/>
            <a:ext cx="2651760" cy="41148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6254496" y="3401568"/>
            <a:ext cx="2651760" cy="685800"/>
          </a:xfrm>
          <a:prstGeom prst="rect">
            <a:avLst/>
          </a:prstGeom>
          <a:noFill/>
          <a:ln/>
        </p:spPr>
        <p:txBody>
          <a:bodyPr wrap="square" lIns="0" tIns="0" rIns="0" bIns="0" rtlCol="0" anchor="ctr"/>
          <a:lstStyle/>
          <a:p>
            <a:pPr algn="ctr" indent="0" marL="0">
              <a:buNone/>
            </a:pPr>
            <a:r>
              <a:rPr lang="en-US" sz="1100" dirty="0">
                <a:solidFill>
                  <a:srgbClr val="E8EAF0"/>
                </a:solidFill>
                <a:latin typeface="Calibri" pitchFamily="34" charset="0"/>
                <a:ea typeface="Calibri" pitchFamily="34" charset="-122"/>
                <a:cs typeface="Calibri" pitchFamily="34" charset="-120"/>
              </a:rPr>
              <a:t>ROI en 8–14 meses</a:t>
            </a:r>
            <a:endParaRPr lang="en-US" sz="1100" dirty="0"/>
          </a:p>
          <a:p>
            <a:pPr algn="ctr" indent="0" marL="0">
              <a:buNone/>
            </a:pPr>
            <a:r>
              <a:rPr lang="en-US" sz="1100" dirty="0">
                <a:solidFill>
                  <a:srgbClr val="E8EAF0"/>
                </a:solidFill>
                <a:latin typeface="Calibri" pitchFamily="34" charset="0"/>
                <a:ea typeface="Calibri" pitchFamily="34" charset="-122"/>
                <a:cs typeface="Calibri" pitchFamily="34" charset="-120"/>
              </a:rPr>
              <a:t>en escenario conservador</a:t>
            </a:r>
            <a:endParaRPr lang="en-US" sz="1100" dirty="0"/>
          </a:p>
        </p:txBody>
      </p:sp>
      <p:sp>
        <p:nvSpPr>
          <p:cNvPr id="17" name="Text 15"/>
          <p:cNvSpPr/>
          <p:nvPr/>
        </p:nvSpPr>
        <p:spPr>
          <a:xfrm>
            <a:off x="457200" y="4434840"/>
            <a:ext cx="8229600" cy="365760"/>
          </a:xfrm>
          <a:prstGeom prst="rect">
            <a:avLst/>
          </a:prstGeom>
          <a:noFill/>
          <a:ln/>
        </p:spPr>
        <p:txBody>
          <a:bodyPr wrap="square" lIns="0" tIns="0" rIns="0" bIns="0" rtlCol="0" anchor="ctr"/>
          <a:lstStyle/>
          <a:p>
            <a:pPr algn="ctr" indent="0" marL="0">
              <a:buNone/>
            </a:pPr>
            <a:r>
              <a:rPr lang="en-US" sz="1300" b="1" dirty="0">
                <a:solidFill>
                  <a:srgbClr val="E8002D"/>
                </a:solidFill>
                <a:latin typeface="Arial Black" pitchFamily="34" charset="0"/>
                <a:ea typeface="Arial Black" pitchFamily="34" charset="-122"/>
                <a:cs typeface="Arial Black" pitchFamily="34" charset="-120"/>
              </a:rPr>
              <a:t>El riesgo de no actuar es mayor que el de actuar.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ChileAutos Gaming Hub – Pitch Deck</dc:title>
  <dc:subject>PptxGenJS Presentation</dc:subject>
  <dc:creator>PptxGenJS</dc:creator>
  <cp:lastModifiedBy>PptxGenJS</cp:lastModifiedBy>
  <cp:revision>1</cp:revision>
  <dcterms:created xsi:type="dcterms:W3CDTF">2026-05-07T17:14:22Z</dcterms:created>
  <dcterms:modified xsi:type="dcterms:W3CDTF">2026-05-07T17:14:22Z</dcterms:modified>
</cp:coreProperties>
</file>